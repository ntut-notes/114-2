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Lst>
  <p:notesMasterIdLst>
    <p:notesMasterId r:id="rId19"/>
  </p:notesMasterIdLst>
  <p:sldIdLst>
    <p:sldId id="383" r:id="rId2"/>
    <p:sldId id="307" r:id="rId3"/>
    <p:sldId id="378" r:id="rId4"/>
    <p:sldId id="320" r:id="rId5"/>
    <p:sldId id="321" r:id="rId6"/>
    <p:sldId id="322" r:id="rId7"/>
    <p:sldId id="330" r:id="rId8"/>
    <p:sldId id="337" r:id="rId9"/>
    <p:sldId id="375" r:id="rId10"/>
    <p:sldId id="338" r:id="rId11"/>
    <p:sldId id="339" r:id="rId12"/>
    <p:sldId id="344" r:id="rId13"/>
    <p:sldId id="379" r:id="rId14"/>
    <p:sldId id="381" r:id="rId15"/>
    <p:sldId id="382" r:id="rId16"/>
    <p:sldId id="323" r:id="rId17"/>
    <p:sldId id="324" r:id="rId18"/>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00FF"/>
    <a:srgbClr val="00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591" autoAdjust="0"/>
  </p:normalViewPr>
  <p:slideViewPr>
    <p:cSldViewPr>
      <p:cViewPr varScale="1">
        <p:scale>
          <a:sx n="106" d="100"/>
          <a:sy n="106" d="100"/>
        </p:scale>
        <p:origin x="1764" y="11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8.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AAACA96-26F1-4A75-B9B8-1C692F343123}" type="datetimeFigureOut">
              <a:rPr lang="zh-TW" altLang="en-US" smtClean="0"/>
              <a:t>2025/4/11</a:t>
            </a:fld>
            <a:endParaRPr lang="zh-TW" altLang="en-US"/>
          </a:p>
        </p:txBody>
      </p:sp>
      <p:sp>
        <p:nvSpPr>
          <p:cNvPr id="4" name="投影片圖像版面配置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E70AA6E-0A7F-405B-902B-44CF20B782F6}" type="slidenum">
              <a:rPr lang="zh-TW" altLang="en-US" smtClean="0"/>
              <a:t>‹#›</a:t>
            </a:fld>
            <a:endParaRPr lang="zh-TW" altLang="en-US"/>
          </a:p>
        </p:txBody>
      </p:sp>
    </p:spTree>
    <p:extLst>
      <p:ext uri="{BB962C8B-B14F-4D97-AF65-F5344CB8AC3E}">
        <p14:creationId xmlns:p14="http://schemas.microsoft.com/office/powerpoint/2010/main" val="10359971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標題投影片">
    <p:bg>
      <p:bgRef idx="1003">
        <a:schemeClr val="bg1"/>
      </p:bgRef>
    </p:bg>
    <p:spTree>
      <p:nvGrpSpPr>
        <p:cNvPr id="1" name=""/>
        <p:cNvGrpSpPr/>
        <p:nvPr/>
      </p:nvGrpSpPr>
      <p:grpSpPr>
        <a:xfrm>
          <a:off x="0" y="0"/>
          <a:ext cx="0" cy="0"/>
          <a:chOff x="0" y="0"/>
          <a:chExt cx="0" cy="0"/>
        </a:xfrm>
      </p:grpSpPr>
      <p:sp>
        <p:nvSpPr>
          <p:cNvPr id="12" name="矩形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圓角矩形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副標題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zh-TW" altLang="en-US"/>
              <a:t>按一下以編輯母片副標題樣式</a:t>
            </a:r>
            <a:endParaRPr kumimoji="0" lang="en-US"/>
          </a:p>
        </p:txBody>
      </p:sp>
      <p:sp>
        <p:nvSpPr>
          <p:cNvPr id="28" name="日期版面配置區 27"/>
          <p:cNvSpPr>
            <a:spLocks noGrp="1"/>
          </p:cNvSpPr>
          <p:nvPr>
            <p:ph type="dt" sz="half" idx="10"/>
          </p:nvPr>
        </p:nvSpPr>
        <p:spPr/>
        <p:txBody>
          <a:bodyPr/>
          <a:lstStyle/>
          <a:p>
            <a:fld id="{FF506B39-0E34-4F93-8404-23DFC996447C}" type="datetimeFigureOut">
              <a:rPr lang="zh-TW" altLang="en-US" smtClean="0"/>
              <a:t>2025/4/11</a:t>
            </a:fld>
            <a:endParaRPr lang="zh-TW" altLang="en-US"/>
          </a:p>
        </p:txBody>
      </p:sp>
      <p:sp>
        <p:nvSpPr>
          <p:cNvPr id="17" name="頁尾版面配置區 16"/>
          <p:cNvSpPr>
            <a:spLocks noGrp="1"/>
          </p:cNvSpPr>
          <p:nvPr>
            <p:ph type="ftr" sz="quarter" idx="11"/>
          </p:nvPr>
        </p:nvSpPr>
        <p:spPr/>
        <p:txBody>
          <a:bodyPr/>
          <a:lstStyle/>
          <a:p>
            <a:endParaRPr lang="zh-TW" altLang="en-US"/>
          </a:p>
        </p:txBody>
      </p:sp>
      <p:sp>
        <p:nvSpPr>
          <p:cNvPr id="29" name="投影片編號版面配置區 28"/>
          <p:cNvSpPr>
            <a:spLocks noGrp="1"/>
          </p:cNvSpPr>
          <p:nvPr>
            <p:ph type="sldNum" sz="quarter" idx="12"/>
          </p:nvPr>
        </p:nvSpPr>
        <p:spPr/>
        <p:txBody>
          <a:bodyPr lIns="0" tIns="0" rIns="0" bIns="0">
            <a:noAutofit/>
          </a:bodyPr>
          <a:lstStyle>
            <a:lvl1pPr>
              <a:defRPr sz="1400">
                <a:solidFill>
                  <a:srgbClr val="FFFFFF"/>
                </a:solidFill>
              </a:defRPr>
            </a:lvl1pPr>
          </a:lstStyle>
          <a:p>
            <a:fld id="{872ACA18-0763-4202-8382-9F371B21E1C0}" type="slidenum">
              <a:rPr lang="zh-TW" altLang="en-US" smtClean="0"/>
              <a:t>‹#›</a:t>
            </a:fld>
            <a:endParaRPr lang="zh-TW" altLang="en-US"/>
          </a:p>
        </p:txBody>
      </p:sp>
      <p:sp>
        <p:nvSpPr>
          <p:cNvPr id="7" name="矩形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矩形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矩形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標題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zh-TW" altLang="en-US"/>
              <a:t>按一下以編輯母片標題樣式</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0" lang="zh-TW" altLang="en-US"/>
              <a:t>按一下以編輯母片標題樣式</a:t>
            </a:r>
            <a:endParaRPr kumimoji="0" lang="en-US"/>
          </a:p>
        </p:txBody>
      </p:sp>
      <p:sp>
        <p:nvSpPr>
          <p:cNvPr id="4" name="日期版面配置區 3"/>
          <p:cNvSpPr>
            <a:spLocks noGrp="1"/>
          </p:cNvSpPr>
          <p:nvPr>
            <p:ph type="dt" sz="half" idx="10"/>
          </p:nvPr>
        </p:nvSpPr>
        <p:spPr/>
        <p:txBody>
          <a:bodyPr/>
          <a:lstStyle/>
          <a:p>
            <a:fld id="{FF506B39-0E34-4F93-8404-23DFC996447C}" type="datetimeFigureOut">
              <a:rPr lang="zh-TW" altLang="en-US" smtClean="0"/>
              <a:t>2025/4/11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872ACA18-0763-4202-8382-9F371B21E1C0}" type="slidenum">
              <a:rPr lang="zh-TW" altLang="en-US" smtClean="0"/>
              <a:t>‹#›</a:t>
            </a:fld>
            <a:endParaRPr lang="zh-TW" altLang="en-US"/>
          </a:p>
        </p:txBody>
      </p:sp>
      <p:sp>
        <p:nvSpPr>
          <p:cNvPr id="8" name="內容版面配置區 7"/>
          <p:cNvSpPr>
            <a:spLocks noGrp="1"/>
          </p:cNvSpPr>
          <p:nvPr>
            <p:ph sz="quarter" idx="1"/>
          </p:nvPr>
        </p:nvSpPr>
        <p:spPr>
          <a:xfrm>
            <a:off x="914400" y="1447800"/>
            <a:ext cx="7772400" cy="4572000"/>
          </a:xfrm>
        </p:spPr>
        <p:txBody>
          <a:bodyPr vert="horz"/>
          <a:lstStyle/>
          <a:p>
            <a:pPr lvl="0" eaLnBrk="1" latinLnBrk="0" hangingPunct="1"/>
            <a:r>
              <a:rPr lang="zh-TW" altLang="en-US"/>
              <a:t>按一下以編輯母片文字樣式</a:t>
            </a:r>
          </a:p>
          <a:p>
            <a:pPr lvl="1" eaLnBrk="1" latinLnBrk="0" hangingPunct="1"/>
            <a:r>
              <a:rPr lang="zh-TW" altLang="en-US"/>
              <a:t>第二層</a:t>
            </a:r>
          </a:p>
          <a:p>
            <a:pPr lvl="2" eaLnBrk="1" latinLnBrk="0" hangingPunct="1"/>
            <a:r>
              <a:rPr lang="zh-TW" altLang="en-US"/>
              <a:t>第三層</a:t>
            </a:r>
          </a:p>
          <a:p>
            <a:pPr lvl="3" eaLnBrk="1" latinLnBrk="0" hangingPunct="1"/>
            <a:r>
              <a:rPr lang="zh-TW" altLang="en-US"/>
              <a:t>第四層</a:t>
            </a:r>
          </a:p>
          <a:p>
            <a:pPr lvl="4" eaLnBrk="1" latinLnBrk="0" hangingPunct="1"/>
            <a:r>
              <a:rPr lang="zh-TW" altLang="en-US"/>
              <a:t>第五層</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章節標題">
    <p:bg>
      <p:bgRef idx="1003">
        <a:schemeClr val="bg1"/>
      </p:bgRef>
    </p:bg>
    <p:spTree>
      <p:nvGrpSpPr>
        <p:cNvPr id="1" name=""/>
        <p:cNvGrpSpPr/>
        <p:nvPr/>
      </p:nvGrpSpPr>
      <p:grpSpPr>
        <a:xfrm>
          <a:off x="0" y="0"/>
          <a:ext cx="0" cy="0"/>
          <a:chOff x="0" y="0"/>
          <a:chExt cx="0" cy="0"/>
        </a:xfrm>
      </p:grpSpPr>
      <p:sp>
        <p:nvSpPr>
          <p:cNvPr id="11" name="矩形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圓角矩形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標題 1"/>
          <p:cNvSpPr>
            <a:spLocks noGrp="1"/>
          </p:cNvSpPr>
          <p:nvPr>
            <p:ph type="title"/>
          </p:nvPr>
        </p:nvSpPr>
        <p:spPr>
          <a:xfrm>
            <a:off x="722313" y="952500"/>
            <a:ext cx="7772400" cy="1362075"/>
          </a:xfrm>
        </p:spPr>
        <p:txBody>
          <a:bodyPr anchor="b" anchorCtr="0"/>
          <a:lstStyle>
            <a:lvl1pPr algn="l">
              <a:buNone/>
              <a:defRPr sz="4000" b="0" cap="none"/>
            </a:lvl1pPr>
          </a:lstStyle>
          <a:p>
            <a:r>
              <a:rPr kumimoji="0" lang="zh-TW" altLang="en-US"/>
              <a:t>按一下以編輯母片標題樣式</a:t>
            </a:r>
            <a:endParaRPr kumimoji="0" lang="en-US"/>
          </a:p>
        </p:txBody>
      </p:sp>
      <p:sp>
        <p:nvSpPr>
          <p:cNvPr id="3" name="文字版面配置區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zh-TW" altLang="en-US"/>
              <a:t>按一下以編輯母片文字樣式</a:t>
            </a:r>
          </a:p>
        </p:txBody>
      </p:sp>
      <p:sp>
        <p:nvSpPr>
          <p:cNvPr id="4" name="日期版面配置區 3"/>
          <p:cNvSpPr>
            <a:spLocks noGrp="1"/>
          </p:cNvSpPr>
          <p:nvPr>
            <p:ph type="dt" sz="half" idx="10"/>
          </p:nvPr>
        </p:nvSpPr>
        <p:spPr/>
        <p:txBody>
          <a:bodyPr/>
          <a:lstStyle/>
          <a:p>
            <a:fld id="{FF506B39-0E34-4F93-8404-23DFC996447C}" type="datetimeFigureOut">
              <a:rPr lang="zh-TW" altLang="en-US" smtClean="0"/>
              <a:t>2025/4/11</a:t>
            </a:fld>
            <a:endParaRPr lang="zh-TW" altLang="en-US"/>
          </a:p>
        </p:txBody>
      </p:sp>
      <p:sp>
        <p:nvSpPr>
          <p:cNvPr id="5" name="頁尾版面配置區 4"/>
          <p:cNvSpPr>
            <a:spLocks noGrp="1"/>
          </p:cNvSpPr>
          <p:nvPr>
            <p:ph type="ftr" sz="quarter" idx="11"/>
          </p:nvPr>
        </p:nvSpPr>
        <p:spPr>
          <a:xfrm>
            <a:off x="800100" y="6172200"/>
            <a:ext cx="4000500" cy="457200"/>
          </a:xfrm>
        </p:spPr>
        <p:txBody>
          <a:bodyPr/>
          <a:lstStyle/>
          <a:p>
            <a:endParaRPr lang="zh-TW" altLang="en-US"/>
          </a:p>
        </p:txBody>
      </p:sp>
      <p:sp>
        <p:nvSpPr>
          <p:cNvPr id="7" name="矩形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矩形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矩形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投影片編號版面配置區 5"/>
          <p:cNvSpPr>
            <a:spLocks noGrp="1"/>
          </p:cNvSpPr>
          <p:nvPr>
            <p:ph type="sldNum" sz="quarter" idx="12"/>
          </p:nvPr>
        </p:nvSpPr>
        <p:spPr>
          <a:xfrm>
            <a:off x="146304" y="6208776"/>
            <a:ext cx="457200" cy="457200"/>
          </a:xfrm>
        </p:spPr>
        <p:txBody>
          <a:bodyPr/>
          <a:lstStyle/>
          <a:p>
            <a:fld id="{872ACA18-0763-4202-8382-9F371B21E1C0}" type="slidenum">
              <a:rPr lang="zh-TW" altLang="en-US" smtClean="0"/>
              <a:t>‹#›</a:t>
            </a:fld>
            <a:endParaRPr lang="zh-TW"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0" lang="zh-TW" altLang="en-US"/>
              <a:t>按一下以編輯母片標題樣式</a:t>
            </a:r>
            <a:endParaRPr kumimoji="0" lang="en-US"/>
          </a:p>
        </p:txBody>
      </p:sp>
      <p:sp>
        <p:nvSpPr>
          <p:cNvPr id="5" name="日期版面配置區 4"/>
          <p:cNvSpPr>
            <a:spLocks noGrp="1"/>
          </p:cNvSpPr>
          <p:nvPr>
            <p:ph type="dt" sz="half" idx="10"/>
          </p:nvPr>
        </p:nvSpPr>
        <p:spPr/>
        <p:txBody>
          <a:bodyPr/>
          <a:lstStyle/>
          <a:p>
            <a:fld id="{FF506B39-0E34-4F93-8404-23DFC996447C}" type="datetimeFigureOut">
              <a:rPr lang="zh-TW" altLang="en-US" smtClean="0"/>
              <a:t>2025/4/11</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872ACA18-0763-4202-8382-9F371B21E1C0}" type="slidenum">
              <a:rPr lang="zh-TW" altLang="en-US" smtClean="0"/>
              <a:t>‹#›</a:t>
            </a:fld>
            <a:endParaRPr lang="zh-TW" altLang="en-US"/>
          </a:p>
        </p:txBody>
      </p:sp>
      <p:sp>
        <p:nvSpPr>
          <p:cNvPr id="9" name="內容版面配置區 8"/>
          <p:cNvSpPr>
            <a:spLocks noGrp="1"/>
          </p:cNvSpPr>
          <p:nvPr>
            <p:ph sz="quarter" idx="1"/>
          </p:nvPr>
        </p:nvSpPr>
        <p:spPr>
          <a:xfrm>
            <a:off x="914400" y="1447800"/>
            <a:ext cx="3749040" cy="4572000"/>
          </a:xfrm>
        </p:spPr>
        <p:txBody>
          <a:bodyPr vert="horz"/>
          <a:lstStyle/>
          <a:p>
            <a:pPr lvl="0" eaLnBrk="1" latinLnBrk="0" hangingPunct="1"/>
            <a:r>
              <a:rPr lang="zh-TW" altLang="en-US"/>
              <a:t>按一下以編輯母片文字樣式</a:t>
            </a:r>
          </a:p>
          <a:p>
            <a:pPr lvl="1" eaLnBrk="1" latinLnBrk="0" hangingPunct="1"/>
            <a:r>
              <a:rPr lang="zh-TW" altLang="en-US"/>
              <a:t>第二層</a:t>
            </a:r>
          </a:p>
          <a:p>
            <a:pPr lvl="2" eaLnBrk="1" latinLnBrk="0" hangingPunct="1"/>
            <a:r>
              <a:rPr lang="zh-TW" altLang="en-US"/>
              <a:t>第三層</a:t>
            </a:r>
          </a:p>
          <a:p>
            <a:pPr lvl="3" eaLnBrk="1" latinLnBrk="0" hangingPunct="1"/>
            <a:r>
              <a:rPr lang="zh-TW" altLang="en-US"/>
              <a:t>第四層</a:t>
            </a:r>
          </a:p>
          <a:p>
            <a:pPr lvl="4" eaLnBrk="1" latinLnBrk="0" hangingPunct="1"/>
            <a:r>
              <a:rPr lang="zh-TW" altLang="en-US"/>
              <a:t>第五層</a:t>
            </a:r>
            <a:endParaRPr kumimoji="0" lang="en-US"/>
          </a:p>
        </p:txBody>
      </p:sp>
      <p:sp>
        <p:nvSpPr>
          <p:cNvPr id="11" name="內容版面配置區 10"/>
          <p:cNvSpPr>
            <a:spLocks noGrp="1"/>
          </p:cNvSpPr>
          <p:nvPr>
            <p:ph sz="quarter" idx="2"/>
          </p:nvPr>
        </p:nvSpPr>
        <p:spPr>
          <a:xfrm>
            <a:off x="4933950" y="1447800"/>
            <a:ext cx="3749040" cy="4572000"/>
          </a:xfrm>
        </p:spPr>
        <p:txBody>
          <a:bodyPr vert="horz"/>
          <a:lstStyle/>
          <a:p>
            <a:pPr lvl="0" eaLnBrk="1" latinLnBrk="0" hangingPunct="1"/>
            <a:r>
              <a:rPr lang="zh-TW" altLang="en-US"/>
              <a:t>按一下以編輯母片文字樣式</a:t>
            </a:r>
          </a:p>
          <a:p>
            <a:pPr lvl="1" eaLnBrk="1" latinLnBrk="0" hangingPunct="1"/>
            <a:r>
              <a:rPr lang="zh-TW" altLang="en-US"/>
              <a:t>第二層</a:t>
            </a:r>
          </a:p>
          <a:p>
            <a:pPr lvl="2" eaLnBrk="1" latinLnBrk="0" hangingPunct="1"/>
            <a:r>
              <a:rPr lang="zh-TW" altLang="en-US"/>
              <a:t>第三層</a:t>
            </a:r>
          </a:p>
          <a:p>
            <a:pPr lvl="3" eaLnBrk="1" latinLnBrk="0" hangingPunct="1"/>
            <a:r>
              <a:rPr lang="zh-TW" altLang="en-US"/>
              <a:t>第四層</a:t>
            </a:r>
          </a:p>
          <a:p>
            <a:pPr lvl="4" eaLnBrk="1" latinLnBrk="0" hangingPunct="1"/>
            <a:r>
              <a:rPr lang="zh-TW" altLang="en-US"/>
              <a:t>第五層</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914400" y="273050"/>
            <a:ext cx="7772400" cy="1143000"/>
          </a:xfrm>
        </p:spPr>
        <p:txBody>
          <a:bodyPr anchor="b" anchorCtr="0"/>
          <a:lstStyle>
            <a:lvl1pPr>
              <a:defRPr/>
            </a:lvl1pPr>
          </a:lstStyle>
          <a:p>
            <a:r>
              <a:rPr kumimoji="0" lang="zh-TW" altLang="en-US"/>
              <a:t>按一下以編輯母片標題樣式</a:t>
            </a:r>
            <a:endParaRPr kumimoji="0" lang="en-US"/>
          </a:p>
        </p:txBody>
      </p:sp>
      <p:sp>
        <p:nvSpPr>
          <p:cNvPr id="3" name="文字版面配置區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zh-TW" altLang="en-US"/>
              <a:t>按一下以編輯母片文字樣式</a:t>
            </a:r>
          </a:p>
        </p:txBody>
      </p:sp>
      <p:sp>
        <p:nvSpPr>
          <p:cNvPr id="4" name="文字版面配置區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zh-TW" altLang="en-US"/>
              <a:t>按一下以編輯母片文字樣式</a:t>
            </a:r>
          </a:p>
        </p:txBody>
      </p:sp>
      <p:sp>
        <p:nvSpPr>
          <p:cNvPr id="7" name="日期版面配置區 6"/>
          <p:cNvSpPr>
            <a:spLocks noGrp="1"/>
          </p:cNvSpPr>
          <p:nvPr>
            <p:ph type="dt" sz="half" idx="10"/>
          </p:nvPr>
        </p:nvSpPr>
        <p:spPr/>
        <p:txBody>
          <a:bodyPr/>
          <a:lstStyle/>
          <a:p>
            <a:fld id="{FF506B39-0E34-4F93-8404-23DFC996447C}" type="datetimeFigureOut">
              <a:rPr lang="zh-TW" altLang="en-US" smtClean="0"/>
              <a:t>2025/4/11</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872ACA18-0763-4202-8382-9F371B21E1C0}" type="slidenum">
              <a:rPr lang="zh-TW" altLang="en-US" smtClean="0"/>
              <a:t>‹#›</a:t>
            </a:fld>
            <a:endParaRPr lang="zh-TW" altLang="en-US"/>
          </a:p>
        </p:txBody>
      </p:sp>
      <p:sp>
        <p:nvSpPr>
          <p:cNvPr id="11" name="內容版面配置區 10"/>
          <p:cNvSpPr>
            <a:spLocks noGrp="1"/>
          </p:cNvSpPr>
          <p:nvPr>
            <p:ph sz="half" idx="2"/>
          </p:nvPr>
        </p:nvSpPr>
        <p:spPr>
          <a:xfrm>
            <a:off x="914400" y="2247900"/>
            <a:ext cx="3733800" cy="3886200"/>
          </a:xfrm>
        </p:spPr>
        <p:txBody>
          <a:bodyPr vert="horz"/>
          <a:lstStyle/>
          <a:p>
            <a:pPr lvl="0" eaLnBrk="1" latinLnBrk="0" hangingPunct="1"/>
            <a:r>
              <a:rPr lang="zh-TW" altLang="en-US"/>
              <a:t>按一下以編輯母片文字樣式</a:t>
            </a:r>
          </a:p>
          <a:p>
            <a:pPr lvl="1" eaLnBrk="1" latinLnBrk="0" hangingPunct="1"/>
            <a:r>
              <a:rPr lang="zh-TW" altLang="en-US"/>
              <a:t>第二層</a:t>
            </a:r>
          </a:p>
          <a:p>
            <a:pPr lvl="2" eaLnBrk="1" latinLnBrk="0" hangingPunct="1"/>
            <a:r>
              <a:rPr lang="zh-TW" altLang="en-US"/>
              <a:t>第三層</a:t>
            </a:r>
          </a:p>
          <a:p>
            <a:pPr lvl="3" eaLnBrk="1" latinLnBrk="0" hangingPunct="1"/>
            <a:r>
              <a:rPr lang="zh-TW" altLang="en-US"/>
              <a:t>第四層</a:t>
            </a:r>
          </a:p>
          <a:p>
            <a:pPr lvl="4" eaLnBrk="1" latinLnBrk="0" hangingPunct="1"/>
            <a:r>
              <a:rPr lang="zh-TW" altLang="en-US"/>
              <a:t>第五層</a:t>
            </a:r>
            <a:endParaRPr kumimoji="0" lang="en-US"/>
          </a:p>
        </p:txBody>
      </p:sp>
      <p:sp>
        <p:nvSpPr>
          <p:cNvPr id="13" name="內容版面配置區 12"/>
          <p:cNvSpPr>
            <a:spLocks noGrp="1"/>
          </p:cNvSpPr>
          <p:nvPr>
            <p:ph sz="half" idx="4"/>
          </p:nvPr>
        </p:nvSpPr>
        <p:spPr>
          <a:xfrm>
            <a:off x="4953000" y="2247900"/>
            <a:ext cx="3733800" cy="3886200"/>
          </a:xfrm>
        </p:spPr>
        <p:txBody>
          <a:bodyPr vert="horz"/>
          <a:lstStyle/>
          <a:p>
            <a:pPr lvl="0" eaLnBrk="1" latinLnBrk="0" hangingPunct="1"/>
            <a:r>
              <a:rPr lang="zh-TW" altLang="en-US"/>
              <a:t>按一下以編輯母片文字樣式</a:t>
            </a:r>
          </a:p>
          <a:p>
            <a:pPr lvl="1" eaLnBrk="1" latinLnBrk="0" hangingPunct="1"/>
            <a:r>
              <a:rPr lang="zh-TW" altLang="en-US"/>
              <a:t>第二層</a:t>
            </a:r>
          </a:p>
          <a:p>
            <a:pPr lvl="2" eaLnBrk="1" latinLnBrk="0" hangingPunct="1"/>
            <a:r>
              <a:rPr lang="zh-TW" altLang="en-US"/>
              <a:t>第三層</a:t>
            </a:r>
          </a:p>
          <a:p>
            <a:pPr lvl="3" eaLnBrk="1" latinLnBrk="0" hangingPunct="1"/>
            <a:r>
              <a:rPr lang="zh-TW" altLang="en-US"/>
              <a:t>第四層</a:t>
            </a:r>
          </a:p>
          <a:p>
            <a:pPr lvl="4" eaLnBrk="1" latinLnBrk="0" hangingPunct="1"/>
            <a:r>
              <a:rPr lang="zh-TW" altLang="en-US"/>
              <a:t>第五層</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0" lang="zh-TW" altLang="en-US"/>
              <a:t>按一下以編輯母片標題樣式</a:t>
            </a:r>
            <a:endParaRPr kumimoji="0" lang="en-US"/>
          </a:p>
        </p:txBody>
      </p:sp>
      <p:sp>
        <p:nvSpPr>
          <p:cNvPr id="3" name="日期版面配置區 2"/>
          <p:cNvSpPr>
            <a:spLocks noGrp="1"/>
          </p:cNvSpPr>
          <p:nvPr>
            <p:ph type="dt" sz="half" idx="10"/>
          </p:nvPr>
        </p:nvSpPr>
        <p:spPr/>
        <p:txBody>
          <a:bodyPr/>
          <a:lstStyle/>
          <a:p>
            <a:fld id="{FF506B39-0E34-4F93-8404-23DFC996447C}" type="datetimeFigureOut">
              <a:rPr lang="zh-TW" altLang="en-US" smtClean="0"/>
              <a:t>2025/4/11</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872ACA18-0763-4202-8382-9F371B21E1C0}" type="slidenum">
              <a:rPr lang="zh-TW" altLang="en-US" smtClean="0"/>
              <a:t>‹#›</a:t>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FF506B39-0E34-4F93-8404-23DFC996447C}" type="datetimeFigureOut">
              <a:rPr lang="zh-TW" altLang="en-US" smtClean="0"/>
              <a:t>2025/4/11</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872ACA18-0763-4202-8382-9F371B21E1C0}" type="slidenum">
              <a:rPr lang="zh-TW" altLang="en-US" smtClean="0"/>
              <a:t>‹#›</a:t>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8" name="矩形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圓角矩形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標題 1"/>
          <p:cNvSpPr>
            <a:spLocks noGrp="1"/>
          </p:cNvSpPr>
          <p:nvPr>
            <p:ph type="title"/>
          </p:nvPr>
        </p:nvSpPr>
        <p:spPr>
          <a:xfrm>
            <a:off x="914400" y="273050"/>
            <a:ext cx="7772400" cy="1143000"/>
          </a:xfrm>
        </p:spPr>
        <p:txBody>
          <a:bodyPr anchor="b" anchorCtr="0"/>
          <a:lstStyle>
            <a:lvl1pPr algn="l">
              <a:buNone/>
              <a:defRPr sz="4000" b="0"/>
            </a:lvl1pPr>
          </a:lstStyle>
          <a:p>
            <a:r>
              <a:rPr kumimoji="0" lang="zh-TW" altLang="en-US"/>
              <a:t>按一下以編輯母片標題樣式</a:t>
            </a:r>
            <a:endParaRPr kumimoji="0" lang="en-US"/>
          </a:p>
        </p:txBody>
      </p:sp>
      <p:sp>
        <p:nvSpPr>
          <p:cNvPr id="3" name="文字版面配置區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zh-TW" altLang="en-US"/>
              <a:t>按一下以編輯母片文字樣式</a:t>
            </a:r>
          </a:p>
        </p:txBody>
      </p:sp>
      <p:sp>
        <p:nvSpPr>
          <p:cNvPr id="5" name="日期版面配置區 4"/>
          <p:cNvSpPr>
            <a:spLocks noGrp="1"/>
          </p:cNvSpPr>
          <p:nvPr>
            <p:ph type="dt" sz="half" idx="10"/>
          </p:nvPr>
        </p:nvSpPr>
        <p:spPr/>
        <p:txBody>
          <a:bodyPr/>
          <a:lstStyle/>
          <a:p>
            <a:fld id="{FF506B39-0E34-4F93-8404-23DFC996447C}" type="datetimeFigureOut">
              <a:rPr lang="zh-TW" altLang="en-US" smtClean="0"/>
              <a:t>2025/4/11</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872ACA18-0763-4202-8382-9F371B21E1C0}" type="slidenum">
              <a:rPr lang="zh-TW" altLang="en-US" smtClean="0"/>
              <a:t>‹#›</a:t>
            </a:fld>
            <a:endParaRPr lang="zh-TW" altLang="en-US"/>
          </a:p>
        </p:txBody>
      </p:sp>
      <p:sp>
        <p:nvSpPr>
          <p:cNvPr id="11" name="內容版面配置區 10"/>
          <p:cNvSpPr>
            <a:spLocks noGrp="1"/>
          </p:cNvSpPr>
          <p:nvPr>
            <p:ph sz="quarter" idx="1"/>
          </p:nvPr>
        </p:nvSpPr>
        <p:spPr>
          <a:xfrm>
            <a:off x="2971800" y="1600200"/>
            <a:ext cx="5715000" cy="4495800"/>
          </a:xfrm>
        </p:spPr>
        <p:txBody>
          <a:bodyPr vert="horz"/>
          <a:lstStyle/>
          <a:p>
            <a:pPr lvl="0" eaLnBrk="1" latinLnBrk="0" hangingPunct="1"/>
            <a:r>
              <a:rPr lang="zh-TW" altLang="en-US"/>
              <a:t>按一下以編輯母片文字樣式</a:t>
            </a:r>
          </a:p>
          <a:p>
            <a:pPr lvl="1" eaLnBrk="1" latinLnBrk="0" hangingPunct="1"/>
            <a:r>
              <a:rPr lang="zh-TW" altLang="en-US"/>
              <a:t>第二層</a:t>
            </a:r>
          </a:p>
          <a:p>
            <a:pPr lvl="2" eaLnBrk="1" latinLnBrk="0" hangingPunct="1"/>
            <a:r>
              <a:rPr lang="zh-TW" altLang="en-US"/>
              <a:t>第三層</a:t>
            </a:r>
          </a:p>
          <a:p>
            <a:pPr lvl="3" eaLnBrk="1" latinLnBrk="0" hangingPunct="1"/>
            <a:r>
              <a:rPr lang="zh-TW" altLang="en-US"/>
              <a:t>第四層</a:t>
            </a:r>
          </a:p>
          <a:p>
            <a:pPr lvl="4" eaLnBrk="1" latinLnBrk="0" hangingPunct="1"/>
            <a:r>
              <a:rPr lang="zh-TW" altLang="en-US"/>
              <a:t>第五層</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zh-TW" altLang="en-US"/>
              <a:t>按一下以編輯母片標題樣式</a:t>
            </a:r>
            <a:endParaRPr kumimoji="0" lang="en-US"/>
          </a:p>
        </p:txBody>
      </p:sp>
      <p:sp>
        <p:nvSpPr>
          <p:cNvPr id="4" name="文字版面配置區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zh-TW" altLang="en-US"/>
              <a:t>按一下以編輯母片文字樣式</a:t>
            </a:r>
          </a:p>
        </p:txBody>
      </p:sp>
      <p:sp>
        <p:nvSpPr>
          <p:cNvPr id="5" name="日期版面配置區 4"/>
          <p:cNvSpPr>
            <a:spLocks noGrp="1"/>
          </p:cNvSpPr>
          <p:nvPr>
            <p:ph type="dt" sz="half" idx="10"/>
          </p:nvPr>
        </p:nvSpPr>
        <p:spPr/>
        <p:txBody>
          <a:bodyPr/>
          <a:lstStyle/>
          <a:p>
            <a:fld id="{FF506B39-0E34-4F93-8404-23DFC996447C}" type="datetimeFigureOut">
              <a:rPr lang="zh-TW" altLang="en-US" smtClean="0"/>
              <a:t>2025/4/11</a:t>
            </a:fld>
            <a:endParaRPr lang="zh-TW" altLang="en-US"/>
          </a:p>
        </p:txBody>
      </p:sp>
      <p:sp>
        <p:nvSpPr>
          <p:cNvPr id="6" name="頁尾版面配置區 5"/>
          <p:cNvSpPr>
            <a:spLocks noGrp="1"/>
          </p:cNvSpPr>
          <p:nvPr>
            <p:ph type="ftr" sz="quarter" idx="11"/>
          </p:nvPr>
        </p:nvSpPr>
        <p:spPr>
          <a:xfrm>
            <a:off x="914400" y="6172200"/>
            <a:ext cx="3886200" cy="457200"/>
          </a:xfrm>
        </p:spPr>
        <p:txBody>
          <a:bodyPr/>
          <a:lstStyle/>
          <a:p>
            <a:endParaRPr lang="zh-TW" altLang="en-US"/>
          </a:p>
        </p:txBody>
      </p:sp>
      <p:sp>
        <p:nvSpPr>
          <p:cNvPr id="7" name="投影片編號版面配置區 6"/>
          <p:cNvSpPr>
            <a:spLocks noGrp="1"/>
          </p:cNvSpPr>
          <p:nvPr>
            <p:ph type="sldNum" sz="quarter" idx="12"/>
          </p:nvPr>
        </p:nvSpPr>
        <p:spPr>
          <a:xfrm>
            <a:off x="146304" y="6208776"/>
            <a:ext cx="457200" cy="457200"/>
          </a:xfrm>
        </p:spPr>
        <p:txBody>
          <a:bodyPr/>
          <a:lstStyle/>
          <a:p>
            <a:fld id="{872ACA18-0763-4202-8382-9F371B21E1C0}" type="slidenum">
              <a:rPr lang="zh-TW" altLang="en-US" smtClean="0"/>
              <a:t>‹#›</a:t>
            </a:fld>
            <a:endParaRPr lang="zh-TW" altLang="en-US"/>
          </a:p>
        </p:txBody>
      </p:sp>
      <p:sp>
        <p:nvSpPr>
          <p:cNvPr id="11" name="矩形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矩形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矩形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圖片版面配置區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zh-TW" altLang="en-US"/>
              <a:t>按一下圖示以新增圖片</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0" lang="zh-TW" altLang="en-US"/>
              <a:t>按一下以編輯母片標題樣式</a:t>
            </a:r>
            <a:endParaRPr kumimoji="0" lang="en-US"/>
          </a:p>
        </p:txBody>
      </p:sp>
      <p:sp>
        <p:nvSpPr>
          <p:cNvPr id="3" name="直排文字版面配置區 2"/>
          <p:cNvSpPr>
            <a:spLocks noGrp="1"/>
          </p:cNvSpPr>
          <p:nvPr>
            <p:ph type="body" orient="vert" idx="1"/>
          </p:nvPr>
        </p:nvSpPr>
        <p:spPr/>
        <p:txBody>
          <a:bodyPr vert="eaVert"/>
          <a:lstStyle/>
          <a:p>
            <a:pPr lvl="0" eaLnBrk="1" latinLnBrk="0" hangingPunct="1"/>
            <a:r>
              <a:rPr lang="zh-TW" altLang="en-US"/>
              <a:t>按一下以編輯母片文字樣式</a:t>
            </a:r>
          </a:p>
          <a:p>
            <a:pPr lvl="1" eaLnBrk="1" latinLnBrk="0" hangingPunct="1"/>
            <a:r>
              <a:rPr lang="zh-TW" altLang="en-US"/>
              <a:t>第二層</a:t>
            </a:r>
          </a:p>
          <a:p>
            <a:pPr lvl="2" eaLnBrk="1" latinLnBrk="0" hangingPunct="1"/>
            <a:r>
              <a:rPr lang="zh-TW" altLang="en-US"/>
              <a:t>第三層</a:t>
            </a:r>
          </a:p>
          <a:p>
            <a:pPr lvl="3" eaLnBrk="1" latinLnBrk="0" hangingPunct="1"/>
            <a:r>
              <a:rPr lang="zh-TW" altLang="en-US"/>
              <a:t>第四層</a:t>
            </a:r>
          </a:p>
          <a:p>
            <a:pPr lvl="4" eaLnBrk="1" latinLnBrk="0" hangingPunct="1"/>
            <a:r>
              <a:rPr lang="zh-TW" altLang="en-US"/>
              <a:t>第五層</a:t>
            </a:r>
            <a:endParaRPr kumimoji="0" lang="en-US"/>
          </a:p>
        </p:txBody>
      </p:sp>
      <p:sp>
        <p:nvSpPr>
          <p:cNvPr id="4" name="日期版面配置區 3"/>
          <p:cNvSpPr>
            <a:spLocks noGrp="1"/>
          </p:cNvSpPr>
          <p:nvPr>
            <p:ph type="dt" sz="half" idx="10"/>
          </p:nvPr>
        </p:nvSpPr>
        <p:spPr/>
        <p:txBody>
          <a:bodyPr/>
          <a:lstStyle/>
          <a:p>
            <a:fld id="{FF506B39-0E34-4F93-8404-23DFC996447C}" type="datetimeFigureOut">
              <a:rPr lang="zh-TW" altLang="en-US" smtClean="0"/>
              <a:t>2025/4/11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872ACA18-0763-4202-8382-9F371B21E1C0}" type="slidenum">
              <a:rPr lang="zh-TW" altLang="en-US" smtClean="0"/>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41"/>
            <a:ext cx="2011680" cy="5851525"/>
          </a:xfrm>
        </p:spPr>
        <p:txBody>
          <a:bodyPr vert="eaVert"/>
          <a:lstStyle/>
          <a:p>
            <a:r>
              <a:rPr kumimoji="0" lang="zh-TW" altLang="en-US"/>
              <a:t>按一下以編輯母片標題樣式</a:t>
            </a:r>
            <a:endParaRPr kumimoji="0" lang="en-US"/>
          </a:p>
        </p:txBody>
      </p:sp>
      <p:sp>
        <p:nvSpPr>
          <p:cNvPr id="3" name="直排文字版面配置區 2"/>
          <p:cNvSpPr>
            <a:spLocks noGrp="1"/>
          </p:cNvSpPr>
          <p:nvPr>
            <p:ph type="body" orient="vert" idx="1"/>
          </p:nvPr>
        </p:nvSpPr>
        <p:spPr>
          <a:xfrm>
            <a:off x="914400" y="274640"/>
            <a:ext cx="5562600" cy="5851525"/>
          </a:xfrm>
        </p:spPr>
        <p:txBody>
          <a:bodyPr vert="eaVert"/>
          <a:lstStyle/>
          <a:p>
            <a:pPr lvl="0" eaLnBrk="1" latinLnBrk="0" hangingPunct="1"/>
            <a:r>
              <a:rPr lang="zh-TW" altLang="en-US"/>
              <a:t>按一下以編輯母片文字樣式</a:t>
            </a:r>
          </a:p>
          <a:p>
            <a:pPr lvl="1" eaLnBrk="1" latinLnBrk="0" hangingPunct="1"/>
            <a:r>
              <a:rPr lang="zh-TW" altLang="en-US"/>
              <a:t>第二層</a:t>
            </a:r>
          </a:p>
          <a:p>
            <a:pPr lvl="2" eaLnBrk="1" latinLnBrk="0" hangingPunct="1"/>
            <a:r>
              <a:rPr lang="zh-TW" altLang="en-US"/>
              <a:t>第三層</a:t>
            </a:r>
          </a:p>
          <a:p>
            <a:pPr lvl="3" eaLnBrk="1" latinLnBrk="0" hangingPunct="1"/>
            <a:r>
              <a:rPr lang="zh-TW" altLang="en-US"/>
              <a:t>第四層</a:t>
            </a:r>
          </a:p>
          <a:p>
            <a:pPr lvl="4" eaLnBrk="1" latinLnBrk="0" hangingPunct="1"/>
            <a:r>
              <a:rPr lang="zh-TW" altLang="en-US"/>
              <a:t>第五層</a:t>
            </a:r>
            <a:endParaRPr kumimoji="0" lang="en-US"/>
          </a:p>
        </p:txBody>
      </p:sp>
      <p:sp>
        <p:nvSpPr>
          <p:cNvPr id="4" name="日期版面配置區 3"/>
          <p:cNvSpPr>
            <a:spLocks noGrp="1"/>
          </p:cNvSpPr>
          <p:nvPr>
            <p:ph type="dt" sz="half" idx="10"/>
          </p:nvPr>
        </p:nvSpPr>
        <p:spPr/>
        <p:txBody>
          <a:bodyPr/>
          <a:lstStyle/>
          <a:p>
            <a:fld id="{FF506B39-0E34-4F93-8404-23DFC996447C}" type="datetimeFigureOut">
              <a:rPr lang="zh-TW" altLang="en-US" smtClean="0"/>
              <a:t>2025/4/11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872ACA18-0763-4202-8382-9F371B21E1C0}" type="slidenum">
              <a:rPr lang="zh-TW" altLang="en-US" smtClean="0"/>
              <a:t>‹#›</a:t>
            </a:fld>
            <a:endParaRPr lang="zh-TW"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OverObj">
  <p:cSld name="標題及文字在物件之上">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p:spPr>
        <p:txBody>
          <a:bodyPr/>
          <a:lstStyle/>
          <a:p>
            <a:r>
              <a:rPr lang="zh-TW" altLang="en-US"/>
              <a:t>按一下以編輯母片標題樣式</a:t>
            </a:r>
          </a:p>
        </p:txBody>
      </p:sp>
      <p:sp>
        <p:nvSpPr>
          <p:cNvPr id="3" name="文字版面配置區 2"/>
          <p:cNvSpPr>
            <a:spLocks noGrp="1"/>
          </p:cNvSpPr>
          <p:nvPr>
            <p:ph type="body" sz="half" idx="1"/>
          </p:nvPr>
        </p:nvSpPr>
        <p:spPr>
          <a:xfrm>
            <a:off x="457200" y="1600200"/>
            <a:ext cx="8229600" cy="2171700"/>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457200" y="3924300"/>
            <a:ext cx="8229600" cy="2171700"/>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a:xfrm>
            <a:off x="457200" y="6248400"/>
            <a:ext cx="2133600" cy="457200"/>
          </a:xfrm>
        </p:spPr>
        <p:txBody>
          <a:bodyPr/>
          <a:lstStyle>
            <a:lvl1pPr>
              <a:defRPr/>
            </a:lvl1pPr>
          </a:lstStyle>
          <a:p>
            <a:endParaRPr lang="en-US" altLang="zh-TW"/>
          </a:p>
        </p:txBody>
      </p:sp>
      <p:sp>
        <p:nvSpPr>
          <p:cNvPr id="6" name="頁尾版面配置區 5"/>
          <p:cNvSpPr>
            <a:spLocks noGrp="1"/>
          </p:cNvSpPr>
          <p:nvPr>
            <p:ph type="ftr" sz="quarter" idx="11"/>
          </p:nvPr>
        </p:nvSpPr>
        <p:spPr>
          <a:xfrm>
            <a:off x="3124200" y="6248400"/>
            <a:ext cx="2895600" cy="457200"/>
          </a:xfrm>
        </p:spPr>
        <p:txBody>
          <a:bodyPr/>
          <a:lstStyle>
            <a:lvl1pPr>
              <a:defRPr/>
            </a:lvl1pPr>
          </a:lstStyle>
          <a:p>
            <a:endParaRPr lang="en-US" altLang="zh-TW"/>
          </a:p>
        </p:txBody>
      </p:sp>
      <p:sp>
        <p:nvSpPr>
          <p:cNvPr id="7" name="投影片編號版面配置區 6"/>
          <p:cNvSpPr>
            <a:spLocks noGrp="1"/>
          </p:cNvSpPr>
          <p:nvPr>
            <p:ph type="sldNum" sz="quarter" idx="12"/>
          </p:nvPr>
        </p:nvSpPr>
        <p:spPr>
          <a:xfrm>
            <a:off x="6553200" y="6248400"/>
            <a:ext cx="2133600" cy="457200"/>
          </a:xfrm>
        </p:spPr>
        <p:txBody>
          <a:bodyPr/>
          <a:lstStyle>
            <a:lvl1pPr>
              <a:defRPr/>
            </a:lvl1pPr>
          </a:lstStyle>
          <a:p>
            <a:fld id="{C70A1B46-3014-4800-A151-67F57D1C563E}" type="slidenum">
              <a:rPr lang="en-US" altLang="zh-TW"/>
              <a:pPr/>
              <a:t>‹#›</a:t>
            </a:fld>
            <a:endParaRPr lang="en-US" altLang="zh-TW"/>
          </a:p>
        </p:txBody>
      </p:sp>
    </p:spTree>
    <p:extLst>
      <p:ext uri="{BB962C8B-B14F-4D97-AF65-F5344CB8AC3E}">
        <p14:creationId xmlns:p14="http://schemas.microsoft.com/office/powerpoint/2010/main" val="7554755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矩形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圓角矩形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標題版面配置區 21"/>
          <p:cNvSpPr>
            <a:spLocks noGrp="1"/>
          </p:cNvSpPr>
          <p:nvPr>
            <p:ph type="title"/>
          </p:nvPr>
        </p:nvSpPr>
        <p:spPr>
          <a:xfrm>
            <a:off x="914400" y="274638"/>
            <a:ext cx="7772400" cy="1143000"/>
          </a:xfrm>
          <a:prstGeom prst="rect">
            <a:avLst/>
          </a:prstGeom>
        </p:spPr>
        <p:txBody>
          <a:bodyPr bIns="91440" anchor="b" anchorCtr="0">
            <a:normAutofit/>
          </a:bodyPr>
          <a:lstStyle/>
          <a:p>
            <a:r>
              <a:rPr kumimoji="0" lang="zh-TW" altLang="en-US"/>
              <a:t>按一下以編輯母片標題樣式</a:t>
            </a:r>
            <a:endParaRPr kumimoji="0" lang="en-US"/>
          </a:p>
        </p:txBody>
      </p:sp>
      <p:sp>
        <p:nvSpPr>
          <p:cNvPr id="13" name="文字版面配置區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zh-TW" altLang="en-US"/>
              <a:t>按一下以編輯母片文字樣式</a:t>
            </a:r>
          </a:p>
          <a:p>
            <a:pPr lvl="1" eaLnBrk="1" latinLnBrk="0" hangingPunct="1"/>
            <a:r>
              <a:rPr kumimoji="0" lang="zh-TW" altLang="en-US"/>
              <a:t>第二層</a:t>
            </a:r>
          </a:p>
          <a:p>
            <a:pPr lvl="2" eaLnBrk="1" latinLnBrk="0" hangingPunct="1"/>
            <a:r>
              <a:rPr kumimoji="0" lang="zh-TW" altLang="en-US"/>
              <a:t>第三層</a:t>
            </a:r>
          </a:p>
          <a:p>
            <a:pPr lvl="3" eaLnBrk="1" latinLnBrk="0" hangingPunct="1"/>
            <a:r>
              <a:rPr kumimoji="0" lang="zh-TW" altLang="en-US"/>
              <a:t>第四層</a:t>
            </a:r>
          </a:p>
          <a:p>
            <a:pPr lvl="4" eaLnBrk="1" latinLnBrk="0" hangingPunct="1"/>
            <a:r>
              <a:rPr kumimoji="0" lang="zh-TW" altLang="en-US"/>
              <a:t>第五層</a:t>
            </a:r>
            <a:endParaRPr kumimoji="0" lang="en-US"/>
          </a:p>
        </p:txBody>
      </p:sp>
      <p:sp>
        <p:nvSpPr>
          <p:cNvPr id="14" name="日期版面配置區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FF506B39-0E34-4F93-8404-23DFC996447C}" type="datetimeFigureOut">
              <a:rPr lang="zh-TW" altLang="en-US" smtClean="0"/>
              <a:t>2025/4/11</a:t>
            </a:fld>
            <a:endParaRPr lang="zh-TW" altLang="en-US"/>
          </a:p>
        </p:txBody>
      </p:sp>
      <p:sp>
        <p:nvSpPr>
          <p:cNvPr id="3" name="頁尾版面配置區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zh-TW" altLang="en-US"/>
          </a:p>
        </p:txBody>
      </p:sp>
      <p:sp>
        <p:nvSpPr>
          <p:cNvPr id="23" name="投影片編號版面配置區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872ACA18-0763-4202-8382-9F371B21E1C0}" type="slidenum">
              <a:rPr lang="zh-TW" altLang="en-US" smtClean="0"/>
              <a:t>‹#›</a:t>
            </a:fld>
            <a:endParaRPr lang="zh-TW" altLang="en-US"/>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5" Type="http://schemas.openxmlformats.org/officeDocument/2006/relationships/image" Target="../media/image43.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B69290B-C3B2-4F37-98EE-AEA921CDD876}"/>
              </a:ext>
            </a:extLst>
          </p:cNvPr>
          <p:cNvSpPr>
            <a:spLocks noGrp="1"/>
          </p:cNvSpPr>
          <p:nvPr>
            <p:ph type="title"/>
          </p:nvPr>
        </p:nvSpPr>
        <p:spPr/>
        <p:txBody>
          <a:bodyPr/>
          <a:lstStyle/>
          <a:p>
            <a:endParaRPr lang="zh-TW" altLang="en-US"/>
          </a:p>
        </p:txBody>
      </p:sp>
      <p:pic>
        <p:nvPicPr>
          <p:cNvPr id="5" name="圖片 4">
            <a:extLst>
              <a:ext uri="{FF2B5EF4-FFF2-40B4-BE49-F238E27FC236}">
                <a16:creationId xmlns:a16="http://schemas.microsoft.com/office/drawing/2014/main" id="{F06E8877-51EA-46EC-B7D5-7EBE109A0B14}"/>
              </a:ext>
            </a:extLst>
          </p:cNvPr>
          <p:cNvPicPr>
            <a:picLocks noChangeAspect="1"/>
          </p:cNvPicPr>
          <p:nvPr/>
        </p:nvPicPr>
        <p:blipFill>
          <a:blip r:embed="rId2"/>
          <a:stretch>
            <a:fillRect/>
          </a:stretch>
        </p:blipFill>
        <p:spPr>
          <a:xfrm>
            <a:off x="951155" y="2193756"/>
            <a:ext cx="6267450" cy="895350"/>
          </a:xfrm>
          <a:prstGeom prst="rect">
            <a:avLst/>
          </a:prstGeom>
        </p:spPr>
      </p:pic>
      <p:pic>
        <p:nvPicPr>
          <p:cNvPr id="7" name="圖片 6">
            <a:extLst>
              <a:ext uri="{FF2B5EF4-FFF2-40B4-BE49-F238E27FC236}">
                <a16:creationId xmlns:a16="http://schemas.microsoft.com/office/drawing/2014/main" id="{E79B20FD-1566-4932-8519-B00B22F9C0BF}"/>
              </a:ext>
            </a:extLst>
          </p:cNvPr>
          <p:cNvPicPr>
            <a:picLocks noChangeAspect="1"/>
          </p:cNvPicPr>
          <p:nvPr/>
        </p:nvPicPr>
        <p:blipFill>
          <a:blip r:embed="rId3"/>
          <a:stretch>
            <a:fillRect/>
          </a:stretch>
        </p:blipFill>
        <p:spPr>
          <a:xfrm>
            <a:off x="927831" y="1628800"/>
            <a:ext cx="4505325" cy="600075"/>
          </a:xfrm>
          <a:prstGeom prst="rect">
            <a:avLst/>
          </a:prstGeom>
        </p:spPr>
      </p:pic>
      <p:pic>
        <p:nvPicPr>
          <p:cNvPr id="10" name="圖片 9">
            <a:extLst>
              <a:ext uri="{FF2B5EF4-FFF2-40B4-BE49-F238E27FC236}">
                <a16:creationId xmlns:a16="http://schemas.microsoft.com/office/drawing/2014/main" id="{957BD7DE-352D-48D5-8F5A-683E82EB5649}"/>
              </a:ext>
            </a:extLst>
          </p:cNvPr>
          <p:cNvPicPr>
            <a:picLocks noChangeAspect="1"/>
          </p:cNvPicPr>
          <p:nvPr/>
        </p:nvPicPr>
        <p:blipFill>
          <a:blip r:embed="rId4"/>
          <a:stretch>
            <a:fillRect/>
          </a:stretch>
        </p:blipFill>
        <p:spPr>
          <a:xfrm>
            <a:off x="611560" y="5229200"/>
            <a:ext cx="1162050" cy="400050"/>
          </a:xfrm>
          <a:prstGeom prst="rect">
            <a:avLst/>
          </a:prstGeom>
        </p:spPr>
      </p:pic>
      <p:pic>
        <p:nvPicPr>
          <p:cNvPr id="12" name="圖片 11">
            <a:extLst>
              <a:ext uri="{FF2B5EF4-FFF2-40B4-BE49-F238E27FC236}">
                <a16:creationId xmlns:a16="http://schemas.microsoft.com/office/drawing/2014/main" id="{4A784A8C-7663-4F6A-BCBE-0424BFD19AB1}"/>
              </a:ext>
            </a:extLst>
          </p:cNvPr>
          <p:cNvPicPr>
            <a:picLocks noChangeAspect="1"/>
          </p:cNvPicPr>
          <p:nvPr/>
        </p:nvPicPr>
        <p:blipFill>
          <a:blip r:embed="rId5"/>
          <a:stretch>
            <a:fillRect/>
          </a:stretch>
        </p:blipFill>
        <p:spPr>
          <a:xfrm>
            <a:off x="323528" y="3351903"/>
            <a:ext cx="4248472" cy="1452114"/>
          </a:xfrm>
          <a:prstGeom prst="rect">
            <a:avLst/>
          </a:prstGeom>
        </p:spPr>
      </p:pic>
      <p:pic>
        <p:nvPicPr>
          <p:cNvPr id="14" name="圖片 13">
            <a:extLst>
              <a:ext uri="{FF2B5EF4-FFF2-40B4-BE49-F238E27FC236}">
                <a16:creationId xmlns:a16="http://schemas.microsoft.com/office/drawing/2014/main" id="{2DE70096-471B-49DD-9D95-05D38E543754}"/>
              </a:ext>
            </a:extLst>
          </p:cNvPr>
          <p:cNvPicPr>
            <a:picLocks noChangeAspect="1"/>
          </p:cNvPicPr>
          <p:nvPr/>
        </p:nvPicPr>
        <p:blipFill>
          <a:blip r:embed="rId6"/>
          <a:stretch>
            <a:fillRect/>
          </a:stretch>
        </p:blipFill>
        <p:spPr>
          <a:xfrm>
            <a:off x="4355976" y="3309979"/>
            <a:ext cx="3629327" cy="1535961"/>
          </a:xfrm>
          <a:prstGeom prst="rect">
            <a:avLst/>
          </a:prstGeom>
        </p:spPr>
      </p:pic>
    </p:spTree>
    <p:extLst>
      <p:ext uri="{BB962C8B-B14F-4D97-AF65-F5344CB8AC3E}">
        <p14:creationId xmlns:p14="http://schemas.microsoft.com/office/powerpoint/2010/main" val="30169881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685800" y="-543428"/>
            <a:ext cx="7772400" cy="1143000"/>
          </a:xfrm>
        </p:spPr>
        <p:txBody>
          <a:bodyPr>
            <a:normAutofit/>
          </a:bodyPr>
          <a:lstStyle/>
          <a:p>
            <a:r>
              <a:rPr lang="en-US" altLang="zh-TW" sz="2000" dirty="0"/>
              <a:t>Correlations and Relationships</a:t>
            </a:r>
            <a:endParaRPr lang="zh-TW" altLang="en-US" sz="2000" dirty="0"/>
          </a:p>
        </p:txBody>
      </p:sp>
      <p:sp>
        <p:nvSpPr>
          <p:cNvPr id="3" name="內容版面配置區 2"/>
          <p:cNvSpPr>
            <a:spLocks noGrp="1"/>
          </p:cNvSpPr>
          <p:nvPr>
            <p:ph sz="quarter" idx="1"/>
          </p:nvPr>
        </p:nvSpPr>
        <p:spPr>
          <a:xfrm>
            <a:off x="685800" y="581900"/>
            <a:ext cx="7772400" cy="4572000"/>
          </a:xfrm>
        </p:spPr>
        <p:txBody>
          <a:bodyPr>
            <a:normAutofit/>
          </a:bodyPr>
          <a:lstStyle/>
          <a:p>
            <a:pPr marL="0" indent="0">
              <a:buNone/>
            </a:pPr>
            <a:r>
              <a:rPr lang="en-US" altLang="zh-TW" sz="2000" b="1" dirty="0"/>
              <a:t>Correlation coefficient</a:t>
            </a:r>
          </a:p>
          <a:p>
            <a:pPr marL="0" indent="0">
              <a:buNone/>
            </a:pPr>
            <a:r>
              <a:rPr lang="en-US" altLang="zh-TW" sz="2000" dirty="0"/>
              <a:t>Two variable x and</a:t>
            </a:r>
            <a:r>
              <a:rPr lang="zh-TW" altLang="en-US" sz="2000" dirty="0"/>
              <a:t> </a:t>
            </a:r>
            <a:r>
              <a:rPr lang="en-US" altLang="zh-TW" sz="2000" dirty="0"/>
              <a:t>y,  correlation coefficient ( r ) is defined as</a:t>
            </a:r>
            <a:endParaRPr lang="zh-TW" altLang="en-US" sz="2000" dirty="0"/>
          </a:p>
        </p:txBody>
      </p:sp>
      <p:pic>
        <p:nvPicPr>
          <p:cNvPr id="4" name="圖片 3"/>
          <p:cNvPicPr>
            <a:picLocks noChangeAspect="1"/>
          </p:cNvPicPr>
          <p:nvPr/>
        </p:nvPicPr>
        <p:blipFill>
          <a:blip r:embed="rId2"/>
          <a:stretch>
            <a:fillRect/>
          </a:stretch>
        </p:blipFill>
        <p:spPr>
          <a:xfrm>
            <a:off x="755576" y="1392768"/>
            <a:ext cx="3628609" cy="1370808"/>
          </a:xfrm>
          <a:prstGeom prst="rect">
            <a:avLst/>
          </a:prstGeom>
        </p:spPr>
      </p:pic>
      <p:pic>
        <p:nvPicPr>
          <p:cNvPr id="6" name="圖片 5">
            <a:extLst>
              <a:ext uri="{FF2B5EF4-FFF2-40B4-BE49-F238E27FC236}">
                <a16:creationId xmlns:a16="http://schemas.microsoft.com/office/drawing/2014/main" id="{2143429E-ACD1-4918-AF1D-C3A1662A33F6}"/>
              </a:ext>
            </a:extLst>
          </p:cNvPr>
          <p:cNvPicPr>
            <a:picLocks noChangeAspect="1"/>
          </p:cNvPicPr>
          <p:nvPr/>
        </p:nvPicPr>
        <p:blipFill>
          <a:blip r:embed="rId3"/>
          <a:stretch>
            <a:fillRect/>
          </a:stretch>
        </p:blipFill>
        <p:spPr>
          <a:xfrm>
            <a:off x="539552" y="3773099"/>
            <a:ext cx="7156131" cy="727540"/>
          </a:xfrm>
          <a:prstGeom prst="rect">
            <a:avLst/>
          </a:prstGeom>
        </p:spPr>
      </p:pic>
      <p:pic>
        <p:nvPicPr>
          <p:cNvPr id="8" name="圖片 7">
            <a:extLst>
              <a:ext uri="{FF2B5EF4-FFF2-40B4-BE49-F238E27FC236}">
                <a16:creationId xmlns:a16="http://schemas.microsoft.com/office/drawing/2014/main" id="{820B823D-3499-41B6-A21F-EF5B802E913A}"/>
              </a:ext>
            </a:extLst>
          </p:cNvPr>
          <p:cNvPicPr>
            <a:picLocks noChangeAspect="1"/>
          </p:cNvPicPr>
          <p:nvPr/>
        </p:nvPicPr>
        <p:blipFill>
          <a:blip r:embed="rId4"/>
          <a:stretch>
            <a:fillRect/>
          </a:stretch>
        </p:blipFill>
        <p:spPr>
          <a:xfrm>
            <a:off x="395536" y="2774949"/>
            <a:ext cx="8572500" cy="904875"/>
          </a:xfrm>
          <a:prstGeom prst="rect">
            <a:avLst/>
          </a:prstGeom>
        </p:spPr>
      </p:pic>
      <p:pic>
        <p:nvPicPr>
          <p:cNvPr id="12" name="圖片 11">
            <a:extLst>
              <a:ext uri="{FF2B5EF4-FFF2-40B4-BE49-F238E27FC236}">
                <a16:creationId xmlns:a16="http://schemas.microsoft.com/office/drawing/2014/main" id="{BE64EBC9-135A-49DC-A58F-29014B38F39B}"/>
              </a:ext>
            </a:extLst>
          </p:cNvPr>
          <p:cNvPicPr>
            <a:picLocks noChangeAspect="1"/>
          </p:cNvPicPr>
          <p:nvPr/>
        </p:nvPicPr>
        <p:blipFill>
          <a:blip r:embed="rId5"/>
          <a:stretch>
            <a:fillRect/>
          </a:stretch>
        </p:blipFill>
        <p:spPr>
          <a:xfrm>
            <a:off x="1331640" y="4579478"/>
            <a:ext cx="4880694" cy="2161889"/>
          </a:xfrm>
          <a:prstGeom prst="rect">
            <a:avLst/>
          </a:prstGeom>
        </p:spPr>
      </p:pic>
    </p:spTree>
    <p:extLst>
      <p:ext uri="{BB962C8B-B14F-4D97-AF65-F5344CB8AC3E}">
        <p14:creationId xmlns:p14="http://schemas.microsoft.com/office/powerpoint/2010/main" val="25644996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sz="quarter" idx="1"/>
          </p:nvPr>
        </p:nvSpPr>
        <p:spPr/>
        <p:txBody>
          <a:bodyPr/>
          <a:lstStyle/>
          <a:p>
            <a:endParaRPr lang="zh-TW" altLang="en-US"/>
          </a:p>
        </p:txBody>
      </p:sp>
      <p:pic>
        <p:nvPicPr>
          <p:cNvPr id="4" name="圖片 3"/>
          <p:cNvPicPr>
            <a:picLocks noChangeAspect="1"/>
          </p:cNvPicPr>
          <p:nvPr/>
        </p:nvPicPr>
        <p:blipFill>
          <a:blip r:embed="rId2"/>
          <a:stretch>
            <a:fillRect/>
          </a:stretch>
        </p:blipFill>
        <p:spPr>
          <a:xfrm>
            <a:off x="467544" y="1628800"/>
            <a:ext cx="8453418" cy="3744416"/>
          </a:xfrm>
          <a:prstGeom prst="rect">
            <a:avLst/>
          </a:prstGeom>
        </p:spPr>
      </p:pic>
      <p:pic>
        <p:nvPicPr>
          <p:cNvPr id="5" name="圖片 4"/>
          <p:cNvPicPr>
            <a:picLocks noChangeAspect="1"/>
          </p:cNvPicPr>
          <p:nvPr/>
        </p:nvPicPr>
        <p:blipFill>
          <a:blip r:embed="rId3"/>
          <a:stretch>
            <a:fillRect/>
          </a:stretch>
        </p:blipFill>
        <p:spPr>
          <a:xfrm>
            <a:off x="2699792" y="5403378"/>
            <a:ext cx="2459360" cy="373889"/>
          </a:xfrm>
          <a:prstGeom prst="rect">
            <a:avLst/>
          </a:prstGeom>
        </p:spPr>
      </p:pic>
    </p:spTree>
    <p:extLst>
      <p:ext uri="{BB962C8B-B14F-4D97-AF65-F5344CB8AC3E}">
        <p14:creationId xmlns:p14="http://schemas.microsoft.com/office/powerpoint/2010/main" val="33873697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sz="quarter" idx="1"/>
          </p:nvPr>
        </p:nvSpPr>
        <p:spPr/>
        <p:txBody>
          <a:bodyPr/>
          <a:lstStyle/>
          <a:p>
            <a:endParaRPr lang="zh-TW" altLang="en-US"/>
          </a:p>
        </p:txBody>
      </p:sp>
      <p:pic>
        <p:nvPicPr>
          <p:cNvPr id="4" name="圖片 3"/>
          <p:cNvPicPr>
            <a:picLocks noChangeAspect="1"/>
          </p:cNvPicPr>
          <p:nvPr/>
        </p:nvPicPr>
        <p:blipFill>
          <a:blip r:embed="rId2"/>
          <a:stretch>
            <a:fillRect/>
          </a:stretch>
        </p:blipFill>
        <p:spPr>
          <a:xfrm>
            <a:off x="105084" y="274638"/>
            <a:ext cx="8791580" cy="6538738"/>
          </a:xfrm>
          <a:prstGeom prst="rect">
            <a:avLst/>
          </a:prstGeom>
        </p:spPr>
      </p:pic>
      <p:sp>
        <p:nvSpPr>
          <p:cNvPr id="5" name="矩形 4">
            <a:extLst>
              <a:ext uri="{FF2B5EF4-FFF2-40B4-BE49-F238E27FC236}">
                <a16:creationId xmlns:a16="http://schemas.microsoft.com/office/drawing/2014/main" id="{B9495364-CACC-49F2-BD31-BD1DFC4DC1CC}"/>
              </a:ext>
            </a:extLst>
          </p:cNvPr>
          <p:cNvSpPr/>
          <p:nvPr/>
        </p:nvSpPr>
        <p:spPr>
          <a:xfrm>
            <a:off x="539552" y="3068960"/>
            <a:ext cx="6120680" cy="1296144"/>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矩形 5">
            <a:extLst>
              <a:ext uri="{FF2B5EF4-FFF2-40B4-BE49-F238E27FC236}">
                <a16:creationId xmlns:a16="http://schemas.microsoft.com/office/drawing/2014/main" id="{83C41E92-05D0-4BE9-8927-CD6D48AA7574}"/>
              </a:ext>
            </a:extLst>
          </p:cNvPr>
          <p:cNvSpPr/>
          <p:nvPr/>
        </p:nvSpPr>
        <p:spPr>
          <a:xfrm>
            <a:off x="5508104" y="3221360"/>
            <a:ext cx="936104" cy="783704"/>
          </a:xfrm>
          <a:prstGeom prst="rect">
            <a:avLst/>
          </a:prstGeom>
          <a:noFill/>
          <a:ln w="1905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矩形 6">
            <a:extLst>
              <a:ext uri="{FF2B5EF4-FFF2-40B4-BE49-F238E27FC236}">
                <a16:creationId xmlns:a16="http://schemas.microsoft.com/office/drawing/2014/main" id="{FF83745D-9ADB-4DFA-B1C2-88714E001551}"/>
              </a:ext>
            </a:extLst>
          </p:cNvPr>
          <p:cNvSpPr/>
          <p:nvPr/>
        </p:nvSpPr>
        <p:spPr>
          <a:xfrm>
            <a:off x="7380312" y="5406428"/>
            <a:ext cx="936104" cy="783704"/>
          </a:xfrm>
          <a:prstGeom prst="rect">
            <a:avLst/>
          </a:prstGeom>
          <a:noFill/>
          <a:ln w="1905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2218349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pic>
        <p:nvPicPr>
          <p:cNvPr id="4" name="圖片 3"/>
          <p:cNvPicPr>
            <a:picLocks noChangeAspect="1"/>
          </p:cNvPicPr>
          <p:nvPr/>
        </p:nvPicPr>
        <p:blipFill>
          <a:blip r:embed="rId2"/>
          <a:stretch>
            <a:fillRect/>
          </a:stretch>
        </p:blipFill>
        <p:spPr>
          <a:xfrm>
            <a:off x="226574" y="476672"/>
            <a:ext cx="8690852" cy="4890293"/>
          </a:xfrm>
          <a:prstGeom prst="rect">
            <a:avLst/>
          </a:prstGeom>
        </p:spPr>
      </p:pic>
      <p:grpSp>
        <p:nvGrpSpPr>
          <p:cNvPr id="15" name="群組 14">
            <a:extLst>
              <a:ext uri="{FF2B5EF4-FFF2-40B4-BE49-F238E27FC236}">
                <a16:creationId xmlns:a16="http://schemas.microsoft.com/office/drawing/2014/main" id="{E0F23EB7-ACED-4F4A-8862-DF8ECF5C280D}"/>
              </a:ext>
            </a:extLst>
          </p:cNvPr>
          <p:cNvGrpSpPr/>
          <p:nvPr/>
        </p:nvGrpSpPr>
        <p:grpSpPr>
          <a:xfrm>
            <a:off x="989459" y="5517232"/>
            <a:ext cx="5886797" cy="1181100"/>
            <a:chOff x="755576" y="5510981"/>
            <a:chExt cx="5886797" cy="1181100"/>
          </a:xfrm>
        </p:grpSpPr>
        <p:pic>
          <p:nvPicPr>
            <p:cNvPr id="6" name="圖片 5">
              <a:extLst>
                <a:ext uri="{FF2B5EF4-FFF2-40B4-BE49-F238E27FC236}">
                  <a16:creationId xmlns:a16="http://schemas.microsoft.com/office/drawing/2014/main" id="{B1D81A2F-6A89-4738-90FA-B845795C7356}"/>
                </a:ext>
              </a:extLst>
            </p:cNvPr>
            <p:cNvPicPr>
              <a:picLocks noChangeAspect="1"/>
            </p:cNvPicPr>
            <p:nvPr/>
          </p:nvPicPr>
          <p:blipFill>
            <a:blip r:embed="rId3"/>
            <a:stretch>
              <a:fillRect/>
            </a:stretch>
          </p:blipFill>
          <p:spPr>
            <a:xfrm>
              <a:off x="755576" y="5733256"/>
              <a:ext cx="2170644" cy="726331"/>
            </a:xfrm>
            <a:prstGeom prst="rect">
              <a:avLst/>
            </a:prstGeom>
          </p:spPr>
        </p:pic>
        <p:pic>
          <p:nvPicPr>
            <p:cNvPr id="14" name="圖片 13">
              <a:extLst>
                <a:ext uri="{FF2B5EF4-FFF2-40B4-BE49-F238E27FC236}">
                  <a16:creationId xmlns:a16="http://schemas.microsoft.com/office/drawing/2014/main" id="{B35CDE54-59E1-4E10-87C3-40D1DB6EEF84}"/>
                </a:ext>
              </a:extLst>
            </p:cNvPr>
            <p:cNvPicPr>
              <a:picLocks noChangeAspect="1"/>
            </p:cNvPicPr>
            <p:nvPr/>
          </p:nvPicPr>
          <p:blipFill>
            <a:blip r:embed="rId4"/>
            <a:stretch>
              <a:fillRect/>
            </a:stretch>
          </p:blipFill>
          <p:spPr>
            <a:xfrm>
              <a:off x="3203848" y="5510981"/>
              <a:ext cx="3438525" cy="1181100"/>
            </a:xfrm>
            <a:prstGeom prst="rect">
              <a:avLst/>
            </a:prstGeom>
          </p:spPr>
        </p:pic>
      </p:grpSp>
      <p:sp>
        <p:nvSpPr>
          <p:cNvPr id="16" name="矩形: 圓角 15">
            <a:extLst>
              <a:ext uri="{FF2B5EF4-FFF2-40B4-BE49-F238E27FC236}">
                <a16:creationId xmlns:a16="http://schemas.microsoft.com/office/drawing/2014/main" id="{BA8BA317-8060-4D90-B2FE-2587A515ED8C}"/>
              </a:ext>
            </a:extLst>
          </p:cNvPr>
          <p:cNvSpPr/>
          <p:nvPr/>
        </p:nvSpPr>
        <p:spPr>
          <a:xfrm>
            <a:off x="914400" y="5445224"/>
            <a:ext cx="6393904" cy="1253108"/>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38486778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757808" y="-171400"/>
            <a:ext cx="7772400" cy="1143000"/>
          </a:xfrm>
        </p:spPr>
        <p:txBody>
          <a:bodyPr/>
          <a:lstStyle/>
          <a:p>
            <a:r>
              <a:rPr lang="en-US" altLang="zh-TW" dirty="0"/>
              <a:t>Logistic Regression</a:t>
            </a:r>
            <a:endParaRPr lang="zh-TW" altLang="en-US" dirty="0"/>
          </a:p>
        </p:txBody>
      </p:sp>
      <p:sp>
        <p:nvSpPr>
          <p:cNvPr id="3" name="內容版面配置區 2"/>
          <p:cNvSpPr>
            <a:spLocks noGrp="1"/>
          </p:cNvSpPr>
          <p:nvPr>
            <p:ph sz="quarter" idx="1"/>
          </p:nvPr>
        </p:nvSpPr>
        <p:spPr>
          <a:xfrm>
            <a:off x="395536" y="971600"/>
            <a:ext cx="8568952" cy="5769768"/>
          </a:xfrm>
        </p:spPr>
        <p:txBody>
          <a:bodyPr>
            <a:normAutofit fontScale="92500"/>
          </a:bodyPr>
          <a:lstStyle/>
          <a:p>
            <a:r>
              <a:rPr lang="en-US" altLang="zh-TW" dirty="0">
                <a:latin typeface="Arial" panose="020B0604020202020204" pitchFamily="34" charset="0"/>
                <a:cs typeface="Arial" panose="020B0604020202020204" pitchFamily="34" charset="0"/>
              </a:rPr>
              <a:t>Why can’t we use Linear Regression to model binary responses?</a:t>
            </a:r>
          </a:p>
          <a:p>
            <a:pPr marL="0" indent="0">
              <a:buNone/>
            </a:pPr>
            <a:r>
              <a:rPr lang="en-US" altLang="zh-TW" dirty="0">
                <a:latin typeface="Arial" panose="020B0604020202020204" pitchFamily="34" charset="0"/>
                <a:cs typeface="Arial" panose="020B0604020202020204" pitchFamily="34" charset="0"/>
                <a:sym typeface="Wingdings" panose="05000000000000000000" pitchFamily="2" charset="2"/>
              </a:rPr>
              <a:t>      Linear regression is the type of regression we use for a </a:t>
            </a:r>
            <a:r>
              <a:rPr lang="en-US" altLang="zh-TW" b="1" dirty="0">
                <a:latin typeface="Arial" panose="020B0604020202020204" pitchFamily="34" charset="0"/>
                <a:cs typeface="Arial" panose="020B0604020202020204" pitchFamily="34" charset="0"/>
                <a:sym typeface="Wingdings" panose="05000000000000000000" pitchFamily="2" charset="2"/>
              </a:rPr>
              <a:t>continuous</a:t>
            </a:r>
            <a:r>
              <a:rPr lang="en-US" altLang="zh-TW" dirty="0">
                <a:latin typeface="Arial" panose="020B0604020202020204" pitchFamily="34" charset="0"/>
                <a:cs typeface="Arial" panose="020B0604020202020204" pitchFamily="34" charset="0"/>
                <a:sym typeface="Wingdings" panose="05000000000000000000" pitchFamily="2" charset="2"/>
              </a:rPr>
              <a:t>, </a:t>
            </a:r>
            <a:r>
              <a:rPr lang="en-US" altLang="zh-TW" b="1" dirty="0">
                <a:latin typeface="Arial" panose="020B0604020202020204" pitchFamily="34" charset="0"/>
                <a:cs typeface="Arial" panose="020B0604020202020204" pitchFamily="34" charset="0"/>
                <a:sym typeface="Wingdings" panose="05000000000000000000" pitchFamily="2" charset="2"/>
              </a:rPr>
              <a:t>normally distributed response (Y) variable</a:t>
            </a:r>
          </a:p>
          <a:p>
            <a:r>
              <a:rPr lang="en-US" altLang="zh-TW" dirty="0">
                <a:latin typeface="Arial" panose="020B0604020202020204" pitchFamily="34" charset="0"/>
                <a:cs typeface="Arial" panose="020B0604020202020204" pitchFamily="34" charset="0"/>
              </a:rPr>
              <a:t>The response (Y) is NOT normally distributed</a:t>
            </a:r>
          </a:p>
          <a:p>
            <a:r>
              <a:rPr lang="en-US" altLang="zh-TW" dirty="0">
                <a:latin typeface="Arial" panose="020B0604020202020204" pitchFamily="34" charset="0"/>
                <a:cs typeface="Arial" panose="020B0604020202020204" pitchFamily="34" charset="0"/>
              </a:rPr>
              <a:t>The variability of  Y is NOT constant</a:t>
            </a:r>
          </a:p>
          <a:p>
            <a:pPr lvl="1"/>
            <a:r>
              <a:rPr lang="en-US" altLang="zh-TW" dirty="0">
                <a:latin typeface="Arial" panose="020B0604020202020204" pitchFamily="34" charset="0"/>
                <a:cs typeface="Arial" panose="020B0604020202020204" pitchFamily="34" charset="0"/>
              </a:rPr>
              <a:t>Variance of  Y depends on the expected value of Y</a:t>
            </a:r>
          </a:p>
          <a:p>
            <a:pPr lvl="1"/>
            <a:r>
              <a:rPr lang="en-US" altLang="zh-TW" dirty="0">
                <a:latin typeface="Arial" panose="020B0604020202020204" pitchFamily="34" charset="0"/>
                <a:cs typeface="Arial" panose="020B0604020202020204" pitchFamily="34" charset="0"/>
              </a:rPr>
              <a:t>For a  </a:t>
            </a:r>
            <a:r>
              <a:rPr lang="en-US" altLang="zh-TW" dirty="0" err="1">
                <a:latin typeface="Arial" panose="020B0604020202020204" pitchFamily="34" charset="0"/>
                <a:cs typeface="Arial" panose="020B0604020202020204" pitchFamily="34" charset="0"/>
              </a:rPr>
              <a:t>Y~Binomial</a:t>
            </a:r>
            <a:r>
              <a:rPr lang="en-US" altLang="zh-TW" dirty="0">
                <a:latin typeface="Arial" panose="020B0604020202020204" pitchFamily="34" charset="0"/>
                <a:cs typeface="Arial" panose="020B0604020202020204" pitchFamily="34" charset="0"/>
              </a:rPr>
              <a:t>(</a:t>
            </a:r>
            <a:r>
              <a:rPr lang="en-US" altLang="zh-TW" dirty="0" err="1">
                <a:latin typeface="Arial" panose="020B0604020202020204" pitchFamily="34" charset="0"/>
                <a:cs typeface="Arial" panose="020B0604020202020204" pitchFamily="34" charset="0"/>
              </a:rPr>
              <a:t>n,p</a:t>
            </a:r>
            <a:r>
              <a:rPr lang="en-US" altLang="zh-TW" dirty="0">
                <a:latin typeface="Arial" panose="020B0604020202020204" pitchFamily="34" charset="0"/>
                <a:cs typeface="Arial" panose="020B0604020202020204" pitchFamily="34" charset="0"/>
              </a:rPr>
              <a:t>),  </a:t>
            </a:r>
          </a:p>
          <a:p>
            <a:pPr marL="320040" lvl="1" indent="0">
              <a:buNone/>
            </a:pPr>
            <a:r>
              <a:rPr lang="en-US" altLang="zh-TW" dirty="0">
                <a:latin typeface="Arial" panose="020B0604020202020204" pitchFamily="34" charset="0"/>
                <a:cs typeface="Arial" panose="020B0604020202020204" pitchFamily="34" charset="0"/>
              </a:rPr>
              <a:t>we have </a:t>
            </a:r>
            <a:r>
              <a:rPr lang="en-US" altLang="zh-TW" dirty="0" err="1">
                <a:latin typeface="Arial" panose="020B0604020202020204" pitchFamily="34" charset="0"/>
                <a:cs typeface="Arial" panose="020B0604020202020204" pitchFamily="34" charset="0"/>
              </a:rPr>
              <a:t>Var</a:t>
            </a:r>
            <a:r>
              <a:rPr lang="en-US" altLang="zh-TW" dirty="0">
                <a:latin typeface="Arial" panose="020B0604020202020204" pitchFamily="34" charset="0"/>
                <a:cs typeface="Arial" panose="020B0604020202020204" pitchFamily="34" charset="0"/>
              </a:rPr>
              <a:t>(Y)=np(1-p) which depends on the expected response, E(Y)=np </a:t>
            </a:r>
          </a:p>
          <a:p>
            <a:r>
              <a:rPr lang="en-US" altLang="zh-TW" dirty="0">
                <a:latin typeface="Arial" panose="020B0604020202020204" pitchFamily="34" charset="0"/>
                <a:cs typeface="Arial" panose="020B0604020202020204" pitchFamily="34" charset="0"/>
              </a:rPr>
              <a:t>The model must produce predicted/fitted probabilities that are between 0 and 1 </a:t>
            </a:r>
          </a:p>
          <a:p>
            <a:pPr lvl="1"/>
            <a:r>
              <a:rPr lang="en-US" altLang="zh-TW" dirty="0">
                <a:latin typeface="Arial" panose="020B0604020202020204" pitchFamily="34" charset="0"/>
                <a:cs typeface="Arial" panose="020B0604020202020204" pitchFamily="34" charset="0"/>
              </a:rPr>
              <a:t>Linear models produce fitted responses that vary from -∞ to ∞</a:t>
            </a:r>
          </a:p>
          <a:p>
            <a:pPr marL="0" indent="0">
              <a:buNone/>
            </a:pPr>
            <a:endParaRPr lang="zh-TW" altLang="en-US" dirty="0"/>
          </a:p>
        </p:txBody>
      </p:sp>
      <p:pic>
        <p:nvPicPr>
          <p:cNvPr id="4" name="圖片 3"/>
          <p:cNvPicPr>
            <a:picLocks noChangeAspect="1"/>
          </p:cNvPicPr>
          <p:nvPr/>
        </p:nvPicPr>
        <p:blipFill>
          <a:blip r:embed="rId2"/>
          <a:stretch>
            <a:fillRect/>
          </a:stretch>
        </p:blipFill>
        <p:spPr>
          <a:xfrm>
            <a:off x="3995936" y="3789040"/>
            <a:ext cx="4113561" cy="540639"/>
          </a:xfrm>
          <a:prstGeom prst="rect">
            <a:avLst/>
          </a:prstGeom>
        </p:spPr>
      </p:pic>
    </p:spTree>
    <p:extLst>
      <p:ext uri="{BB962C8B-B14F-4D97-AF65-F5344CB8AC3E}">
        <p14:creationId xmlns:p14="http://schemas.microsoft.com/office/powerpoint/2010/main" val="21224609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914400" y="404664"/>
            <a:ext cx="8229600" cy="1143000"/>
          </a:xfrm>
          <a:noFill/>
          <a:ln/>
        </p:spPr>
        <p:txBody>
          <a:bodyPr lIns="92075" tIns="46038" rIns="92075" bIns="46038"/>
          <a:lstStyle/>
          <a:p>
            <a:r>
              <a:rPr lang="en-US" altLang="zh-TW" dirty="0">
                <a:latin typeface="Arial" panose="020B0604020202020204" pitchFamily="34" charset="0"/>
                <a:ea typeface="新細明體" panose="02020500000000000000" pitchFamily="18" charset="-120"/>
                <a:cs typeface="Arial" panose="020B0604020202020204" pitchFamily="34" charset="0"/>
              </a:rPr>
              <a:t>Logistic regression</a:t>
            </a:r>
          </a:p>
        </p:txBody>
      </p:sp>
      <p:sp>
        <p:nvSpPr>
          <p:cNvPr id="5123" name="Rectangle 3"/>
          <p:cNvSpPr>
            <a:spLocks noGrp="1" noChangeArrowheads="1"/>
          </p:cNvSpPr>
          <p:nvPr>
            <p:ph type="body" sz="half" idx="1"/>
          </p:nvPr>
        </p:nvSpPr>
        <p:spPr>
          <a:xfrm>
            <a:off x="559965" y="1691325"/>
            <a:ext cx="7772400" cy="4419600"/>
          </a:xfrm>
          <a:noFill/>
          <a:ln/>
        </p:spPr>
        <p:txBody>
          <a:bodyPr lIns="92075" tIns="46038" rIns="92075" bIns="46038">
            <a:normAutofit/>
          </a:bodyPr>
          <a:lstStyle/>
          <a:p>
            <a:pPr>
              <a:lnSpc>
                <a:spcPct val="90000"/>
              </a:lnSpc>
              <a:buFont typeface="Wingdings" panose="05000000000000000000" pitchFamily="2" charset="2"/>
              <a:buChar char="§"/>
            </a:pPr>
            <a:r>
              <a:rPr lang="en-US" altLang="zh-TW" sz="2800" dirty="0">
                <a:latin typeface="Arial" panose="020B0604020202020204" pitchFamily="34" charset="0"/>
                <a:ea typeface="新細明體" panose="02020500000000000000" pitchFamily="18" charset="-120"/>
                <a:cs typeface="Arial" panose="020B0604020202020204" pitchFamily="34" charset="0"/>
              </a:rPr>
              <a:t>Dependent variable is </a:t>
            </a:r>
            <a:r>
              <a:rPr lang="en-US" altLang="zh-TW" sz="2800" b="1" dirty="0">
                <a:latin typeface="Arial" panose="020B0604020202020204" pitchFamily="34" charset="0"/>
                <a:ea typeface="新細明體" panose="02020500000000000000" pitchFamily="18" charset="-120"/>
                <a:cs typeface="Arial" panose="020B0604020202020204" pitchFamily="34" charset="0"/>
              </a:rPr>
              <a:t>categorical variables </a:t>
            </a:r>
            <a:r>
              <a:rPr lang="en-US" altLang="zh-TW" sz="2800" dirty="0">
                <a:latin typeface="Arial" panose="020B0604020202020204" pitchFamily="34" charset="0"/>
                <a:ea typeface="新細明體" panose="02020500000000000000" pitchFamily="18" charset="-120"/>
                <a:cs typeface="Arial" panose="020B0604020202020204" pitchFamily="34" charset="0"/>
              </a:rPr>
              <a:t>(</a:t>
            </a:r>
            <a:r>
              <a:rPr lang="en-US" altLang="zh-TW" sz="2800" b="1" dirty="0">
                <a:latin typeface="Arial" panose="020B0604020202020204" pitchFamily="34" charset="0"/>
                <a:ea typeface="新細明體" panose="02020500000000000000" pitchFamily="18" charset="-120"/>
                <a:cs typeface="Arial" panose="020B0604020202020204" pitchFamily="34" charset="0"/>
              </a:rPr>
              <a:t>nominal</a:t>
            </a:r>
            <a:r>
              <a:rPr lang="en-US" altLang="zh-TW" sz="2800" dirty="0">
                <a:latin typeface="Arial" panose="020B0604020202020204" pitchFamily="34" charset="0"/>
                <a:ea typeface="新細明體" panose="02020500000000000000" pitchFamily="18" charset="-120"/>
                <a:cs typeface="Arial" panose="020B0604020202020204" pitchFamily="34" charset="0"/>
              </a:rPr>
              <a:t> or </a:t>
            </a:r>
            <a:r>
              <a:rPr lang="en-US" altLang="zh-TW" sz="2800" b="1" dirty="0">
                <a:latin typeface="Arial" panose="020B0604020202020204" pitchFamily="34" charset="0"/>
                <a:ea typeface="新細明體" panose="02020500000000000000" pitchFamily="18" charset="-120"/>
                <a:cs typeface="Arial" panose="020B0604020202020204" pitchFamily="34" charset="0"/>
              </a:rPr>
              <a:t>ordinal</a:t>
            </a:r>
            <a:r>
              <a:rPr lang="en-US" altLang="zh-TW" sz="2800" dirty="0">
                <a:latin typeface="Arial" panose="020B0604020202020204" pitchFamily="34" charset="0"/>
                <a:ea typeface="新細明體" panose="02020500000000000000" pitchFamily="18" charset="-120"/>
                <a:cs typeface="Arial" panose="020B0604020202020204" pitchFamily="34" charset="0"/>
              </a:rPr>
              <a:t> dependent variables)</a:t>
            </a:r>
          </a:p>
          <a:p>
            <a:pPr>
              <a:lnSpc>
                <a:spcPct val="90000"/>
              </a:lnSpc>
              <a:buFont typeface="Wingdings" panose="05000000000000000000" pitchFamily="2" charset="2"/>
              <a:buChar char="§"/>
            </a:pPr>
            <a:r>
              <a:rPr lang="en-US" altLang="zh-TW" sz="2800" dirty="0">
                <a:latin typeface="Arial" panose="020B0604020202020204" pitchFamily="34" charset="0"/>
                <a:ea typeface="新細明體" panose="02020500000000000000" pitchFamily="18" charset="-120"/>
                <a:cs typeface="Arial" panose="020B0604020202020204" pitchFamily="34" charset="0"/>
              </a:rPr>
              <a:t>For example: voting, morbidity or mortality, and participation data is not continuous or distributed normally.</a:t>
            </a:r>
          </a:p>
          <a:p>
            <a:pPr>
              <a:lnSpc>
                <a:spcPct val="90000"/>
              </a:lnSpc>
              <a:buFont typeface="Wingdings" panose="05000000000000000000" pitchFamily="2" charset="2"/>
              <a:buChar char="§"/>
            </a:pPr>
            <a:r>
              <a:rPr lang="en-US" altLang="zh-TW" sz="2800" b="1" dirty="0">
                <a:latin typeface="Arial" panose="020B0604020202020204" pitchFamily="34" charset="0"/>
                <a:ea typeface="新細明體" panose="02020500000000000000" pitchFamily="18" charset="-120"/>
                <a:cs typeface="Arial" panose="020B0604020202020204" pitchFamily="34" charset="0"/>
              </a:rPr>
              <a:t>Binary logistic regression </a:t>
            </a:r>
            <a:r>
              <a:rPr lang="en-US" altLang="zh-TW" sz="2800" dirty="0">
                <a:latin typeface="Arial" panose="020B0604020202020204" pitchFamily="34" charset="0"/>
                <a:ea typeface="新細明體" panose="02020500000000000000" pitchFamily="18" charset="-120"/>
                <a:cs typeface="Arial" panose="020B0604020202020204" pitchFamily="34" charset="0"/>
              </a:rPr>
              <a:t>is a type of regression analysis where the dependent variable is a </a:t>
            </a:r>
            <a:r>
              <a:rPr lang="en-US" altLang="zh-TW" sz="2800" b="1" dirty="0">
                <a:latin typeface="Arial" panose="020B0604020202020204" pitchFamily="34" charset="0"/>
                <a:ea typeface="新細明體" panose="02020500000000000000" pitchFamily="18" charset="-120"/>
                <a:cs typeface="Arial" panose="020B0604020202020204" pitchFamily="34" charset="0"/>
              </a:rPr>
              <a:t>dummy variable</a:t>
            </a:r>
            <a:r>
              <a:rPr lang="en-US" altLang="zh-TW" sz="2800" dirty="0">
                <a:latin typeface="Arial" panose="020B0604020202020204" pitchFamily="34" charset="0"/>
                <a:ea typeface="新細明體" panose="02020500000000000000" pitchFamily="18" charset="-120"/>
                <a:cs typeface="Arial" panose="020B0604020202020204" pitchFamily="34" charset="0"/>
              </a:rPr>
              <a:t>: coded 0 (did not vote) or 1(did vote</a:t>
            </a:r>
            <a:r>
              <a:rPr lang="en-US" altLang="zh-TW" sz="2800" dirty="0">
                <a:latin typeface="Arial" panose="020B0604020202020204" pitchFamily="34" charset="0"/>
                <a:cs typeface="Arial" panose="020B0604020202020204" pitchFamily="34" charset="0"/>
              </a:rPr>
              <a:t>); coded 0 (not sick) or 1(sick)</a:t>
            </a:r>
            <a:endParaRPr lang="en-US" altLang="zh-TW" sz="2800" dirty="0">
              <a:latin typeface="Arial" panose="020B0604020202020204" pitchFamily="34" charset="0"/>
              <a:ea typeface="新細明體" panose="02020500000000000000" pitchFamily="18" charset="-120"/>
              <a:cs typeface="Arial" panose="020B0604020202020204" pitchFamily="34" charset="0"/>
            </a:endParaRPr>
          </a:p>
          <a:p>
            <a:pPr>
              <a:lnSpc>
                <a:spcPct val="90000"/>
              </a:lnSpc>
              <a:buFont typeface="Wingdings" panose="05000000000000000000" pitchFamily="2" charset="2"/>
              <a:buChar char="§"/>
            </a:pPr>
            <a:endParaRPr lang="en-US" altLang="zh-TW" sz="2800" dirty="0">
              <a:latin typeface="Arial" panose="020B0604020202020204" pitchFamily="34" charset="0"/>
              <a:ea typeface="新細明體" panose="02020500000000000000" pitchFamily="18" charset="-120"/>
              <a:cs typeface="Arial" panose="020B0604020202020204" pitchFamily="34" charset="0"/>
            </a:endParaRPr>
          </a:p>
        </p:txBody>
      </p:sp>
      <p:sp>
        <p:nvSpPr>
          <p:cNvPr id="5" name="文字方塊 4">
            <a:extLst>
              <a:ext uri="{FF2B5EF4-FFF2-40B4-BE49-F238E27FC236}">
                <a16:creationId xmlns:a16="http://schemas.microsoft.com/office/drawing/2014/main" id="{A0E4CE16-0A7D-4100-A1FE-AE0E23FD3576}"/>
              </a:ext>
            </a:extLst>
          </p:cNvPr>
          <p:cNvSpPr txBox="1"/>
          <p:nvPr/>
        </p:nvSpPr>
        <p:spPr>
          <a:xfrm>
            <a:off x="813914" y="5900643"/>
            <a:ext cx="7630616" cy="707886"/>
          </a:xfrm>
          <a:prstGeom prst="rect">
            <a:avLst/>
          </a:prstGeom>
          <a:noFill/>
        </p:spPr>
        <p:txBody>
          <a:bodyPr wrap="square">
            <a:spAutoFit/>
          </a:bodyPr>
          <a:lstStyle/>
          <a:p>
            <a:r>
              <a:rPr lang="en-US" altLang="zh-TW" sz="2000" b="1" dirty="0">
                <a:latin typeface="Arial" panose="020B0604020202020204" pitchFamily="34" charset="0"/>
                <a:ea typeface="新細明體" panose="02020500000000000000" pitchFamily="18" charset="-120"/>
                <a:cs typeface="Arial" panose="020B0604020202020204" pitchFamily="34" charset="0"/>
              </a:rPr>
              <a:t>Dummy variable </a:t>
            </a:r>
            <a:r>
              <a:rPr lang="en-US" altLang="zh-TW" sz="2000" dirty="0">
                <a:latin typeface="Arial" panose="020B0604020202020204" pitchFamily="34" charset="0"/>
                <a:ea typeface="新細明體" panose="02020500000000000000" pitchFamily="18" charset="-120"/>
                <a:cs typeface="Arial" panose="020B0604020202020204" pitchFamily="34" charset="0"/>
              </a:rPr>
              <a:t>: </a:t>
            </a:r>
            <a:r>
              <a:rPr lang="zh-TW" altLang="en-US" sz="2000" b="0" i="0" dirty="0">
                <a:solidFill>
                  <a:srgbClr val="1F1F1F"/>
                </a:solidFill>
                <a:effectLst/>
                <a:latin typeface="Google Sans"/>
              </a:rPr>
              <a:t>啞變量</a:t>
            </a:r>
            <a:r>
              <a:rPr lang="zh-TW" altLang="en-US" sz="2000" dirty="0">
                <a:solidFill>
                  <a:srgbClr val="1F1F1F"/>
                </a:solidFill>
                <a:latin typeface="Google Sans"/>
              </a:rPr>
              <a:t>或</a:t>
            </a:r>
            <a:r>
              <a:rPr lang="zh-TW" altLang="en-US" sz="2000" dirty="0"/>
              <a:t>虛擬變量是指迴歸模型中用數字來替代並表示定性事實，從而將數據分為互斥的類別</a:t>
            </a:r>
            <a:r>
              <a:rPr lang="en-US" altLang="zh-TW" sz="2000" dirty="0"/>
              <a:t>(0</a:t>
            </a:r>
            <a:r>
              <a:rPr lang="zh-TW" altLang="en-US" sz="2000" dirty="0"/>
              <a:t>或</a:t>
            </a:r>
            <a:r>
              <a:rPr lang="en-US" altLang="zh-TW" sz="2000" dirty="0"/>
              <a:t>1)</a:t>
            </a:r>
            <a:r>
              <a:rPr lang="zh-TW" altLang="en-US" sz="2000" dirty="0"/>
              <a:t>。</a:t>
            </a:r>
          </a:p>
        </p:txBody>
      </p:sp>
    </p:spTree>
    <p:extLst>
      <p:ext uri="{BB962C8B-B14F-4D97-AF65-F5344CB8AC3E}">
        <p14:creationId xmlns:p14="http://schemas.microsoft.com/office/powerpoint/2010/main" val="380916199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12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512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512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3" grpId="0" build="p" autoUpdateAnimBg="0"/>
    </p:bld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914400" y="116632"/>
            <a:ext cx="7772400" cy="1143000"/>
          </a:xfrm>
          <a:noFill/>
          <a:ln/>
        </p:spPr>
        <p:txBody>
          <a:bodyPr lIns="92075" tIns="46038" rIns="92075" bIns="46038"/>
          <a:lstStyle/>
          <a:p>
            <a:r>
              <a:rPr lang="en-US" altLang="zh-TW" sz="4000" dirty="0">
                <a:latin typeface="Arial" panose="020B0604020202020204" pitchFamily="34" charset="0"/>
                <a:ea typeface="新細明體" panose="02020500000000000000" pitchFamily="18" charset="-120"/>
              </a:rPr>
              <a:t>The Logistic Regression Model</a:t>
            </a:r>
          </a:p>
        </p:txBody>
      </p:sp>
      <p:sp>
        <p:nvSpPr>
          <p:cNvPr id="7171" name="Rectangle 3"/>
          <p:cNvSpPr>
            <a:spLocks noGrp="1" noChangeArrowheads="1"/>
          </p:cNvSpPr>
          <p:nvPr>
            <p:ph type="body" idx="1"/>
          </p:nvPr>
        </p:nvSpPr>
        <p:spPr>
          <a:xfrm>
            <a:off x="890414" y="1556792"/>
            <a:ext cx="7772400" cy="4572000"/>
          </a:xfrm>
          <a:noFill/>
          <a:ln/>
        </p:spPr>
        <p:txBody>
          <a:bodyPr lIns="92075" tIns="46038" rIns="92075" bIns="46038">
            <a:normAutofit lnSpcReduction="10000"/>
          </a:bodyPr>
          <a:lstStyle/>
          <a:p>
            <a:pPr>
              <a:buFont typeface="Wingdings" panose="05000000000000000000" pitchFamily="2" charset="2"/>
              <a:buNone/>
            </a:pPr>
            <a:r>
              <a:rPr lang="en-US" altLang="zh-TW" sz="2800" dirty="0">
                <a:latin typeface="Arial" panose="020B0604020202020204" pitchFamily="34" charset="0"/>
                <a:cs typeface="Arial" panose="020B0604020202020204" pitchFamily="34" charset="0"/>
              </a:rPr>
              <a:t>Logistic Regression ( </a:t>
            </a:r>
            <a:r>
              <a:rPr lang="en-US" altLang="zh-TW" sz="2800" dirty="0">
                <a:latin typeface="Arial" panose="020B0604020202020204" pitchFamily="34" charset="0"/>
                <a:ea typeface="新細明體" panose="02020500000000000000" pitchFamily="18" charset="-120"/>
                <a:cs typeface="Arial" panose="020B0604020202020204" pitchFamily="34" charset="0"/>
              </a:rPr>
              <a:t>"logit" regression model)</a:t>
            </a:r>
            <a:br>
              <a:rPr lang="en-US" altLang="zh-TW" sz="2800" dirty="0">
                <a:latin typeface="Arial" panose="020B0604020202020204" pitchFamily="34" charset="0"/>
                <a:ea typeface="新細明體" panose="02020500000000000000" pitchFamily="18" charset="-120"/>
                <a:cs typeface="Arial" panose="020B0604020202020204" pitchFamily="34" charset="0"/>
              </a:rPr>
            </a:br>
            <a:br>
              <a:rPr lang="en-US" altLang="zh-TW" sz="2800" dirty="0">
                <a:latin typeface="Arial" panose="020B0604020202020204" pitchFamily="34" charset="0"/>
                <a:ea typeface="新細明體" panose="02020500000000000000" pitchFamily="18" charset="-120"/>
                <a:cs typeface="Arial" panose="020B0604020202020204" pitchFamily="34" charset="0"/>
              </a:rPr>
            </a:br>
            <a:r>
              <a:rPr lang="en-US" altLang="zh-TW" sz="2800" dirty="0">
                <a:latin typeface="Arial" panose="020B0604020202020204" pitchFamily="34" charset="0"/>
                <a:ea typeface="新細明體" panose="02020500000000000000" pitchFamily="18" charset="-120"/>
                <a:cs typeface="Arial" panose="020B0604020202020204" pitchFamily="34" charset="0"/>
              </a:rPr>
              <a:t>ln[p/(1-p)] = </a:t>
            </a:r>
            <a:r>
              <a:rPr lang="en-US" altLang="zh-TW" sz="2800" i="1" dirty="0">
                <a:latin typeface="Arial" panose="020B0604020202020204" pitchFamily="34" charset="0"/>
                <a:ea typeface="新細明體" panose="02020500000000000000" pitchFamily="18" charset="-120"/>
                <a:cs typeface="Arial" panose="020B0604020202020204" pitchFamily="34" charset="0"/>
                <a:sym typeface="Symbol" panose="05050102010706020507" pitchFamily="18" charset="2"/>
              </a:rPr>
              <a:t></a:t>
            </a:r>
            <a:r>
              <a:rPr lang="en-US" altLang="zh-TW" sz="2800" dirty="0">
                <a:latin typeface="Arial" panose="020B0604020202020204" pitchFamily="34" charset="0"/>
                <a:ea typeface="新細明體" panose="02020500000000000000" pitchFamily="18" charset="-120"/>
                <a:cs typeface="Arial" panose="020B0604020202020204" pitchFamily="34" charset="0"/>
              </a:rPr>
              <a:t> + </a:t>
            </a:r>
            <a:r>
              <a:rPr lang="en-US" altLang="zh-TW" sz="2800" i="1" dirty="0">
                <a:latin typeface="Arial" panose="020B0604020202020204" pitchFamily="34" charset="0"/>
                <a:ea typeface="新細明體" panose="02020500000000000000" pitchFamily="18" charset="-120"/>
                <a:cs typeface="Arial" panose="020B0604020202020204" pitchFamily="34" charset="0"/>
                <a:sym typeface="Symbol" panose="05050102010706020507" pitchFamily="18" charset="2"/>
              </a:rPr>
              <a:t></a:t>
            </a:r>
            <a:r>
              <a:rPr lang="en-US" altLang="zh-TW" sz="2800" dirty="0">
                <a:latin typeface="Arial" panose="020B0604020202020204" pitchFamily="34" charset="0"/>
                <a:ea typeface="新細明體" panose="02020500000000000000" pitchFamily="18" charset="-120"/>
                <a:cs typeface="Arial" panose="020B0604020202020204" pitchFamily="34" charset="0"/>
              </a:rPr>
              <a:t>X</a:t>
            </a:r>
            <a:br>
              <a:rPr lang="en-US" altLang="zh-TW" sz="2800" dirty="0">
                <a:latin typeface="Arial" panose="020B0604020202020204" pitchFamily="34" charset="0"/>
                <a:ea typeface="新細明體" panose="02020500000000000000" pitchFamily="18" charset="-120"/>
                <a:cs typeface="Arial" panose="020B0604020202020204" pitchFamily="34" charset="0"/>
              </a:rPr>
            </a:br>
            <a:endParaRPr lang="en-US" altLang="zh-TW" sz="2800" dirty="0">
              <a:latin typeface="Arial" panose="020B0604020202020204" pitchFamily="34" charset="0"/>
              <a:ea typeface="新細明體" panose="02020500000000000000" pitchFamily="18" charset="-120"/>
              <a:cs typeface="Arial" panose="020B0604020202020204" pitchFamily="34" charset="0"/>
            </a:endParaRPr>
          </a:p>
          <a:p>
            <a:pPr>
              <a:buFont typeface="Wingdings" panose="05000000000000000000" pitchFamily="2" charset="2"/>
              <a:buChar char="§"/>
            </a:pPr>
            <a:r>
              <a:rPr lang="en-US" altLang="zh-TW" sz="2800" dirty="0">
                <a:latin typeface="Arial" panose="020B0604020202020204" pitchFamily="34" charset="0"/>
                <a:ea typeface="新細明體" panose="02020500000000000000" pitchFamily="18" charset="-120"/>
                <a:cs typeface="Arial" panose="020B0604020202020204" pitchFamily="34" charset="0"/>
              </a:rPr>
              <a:t>p is the probability that the event Y occurs (success), p(Y=1) </a:t>
            </a:r>
          </a:p>
          <a:p>
            <a:pPr>
              <a:buFont typeface="Wingdings" panose="05000000000000000000" pitchFamily="2" charset="2"/>
              <a:buChar char="§"/>
            </a:pPr>
            <a:r>
              <a:rPr lang="en-US" altLang="zh-TW" sz="2800" dirty="0">
                <a:latin typeface="Arial" panose="020B0604020202020204" pitchFamily="34" charset="0"/>
                <a:cs typeface="Arial" panose="020B0604020202020204" pitchFamily="34" charset="0"/>
              </a:rPr>
              <a:t>1-p is the probability that the event Y does not occur(fail), p(Y=0)</a:t>
            </a:r>
            <a:endParaRPr lang="en-US" altLang="zh-TW" sz="2800" dirty="0">
              <a:latin typeface="Arial" panose="020B0604020202020204" pitchFamily="34" charset="0"/>
              <a:ea typeface="新細明體" panose="02020500000000000000" pitchFamily="18" charset="-120"/>
              <a:cs typeface="Arial" panose="020B0604020202020204" pitchFamily="34" charset="0"/>
            </a:endParaRPr>
          </a:p>
          <a:p>
            <a:pPr>
              <a:buFont typeface="Wingdings" panose="05000000000000000000" pitchFamily="2" charset="2"/>
              <a:buChar char="§"/>
            </a:pPr>
            <a:r>
              <a:rPr lang="en-US" altLang="zh-TW" sz="2800" dirty="0">
                <a:latin typeface="Arial" panose="020B0604020202020204" pitchFamily="34" charset="0"/>
                <a:ea typeface="新細明體" panose="02020500000000000000" pitchFamily="18" charset="-120"/>
                <a:cs typeface="Arial" panose="020B0604020202020204" pitchFamily="34" charset="0"/>
              </a:rPr>
              <a:t>p/(1-p) is the "odds" </a:t>
            </a:r>
          </a:p>
          <a:p>
            <a:pPr>
              <a:buFont typeface="Wingdings" panose="05000000000000000000" pitchFamily="2" charset="2"/>
              <a:buChar char="§"/>
            </a:pPr>
            <a:r>
              <a:rPr lang="en-US" altLang="zh-TW" sz="2800" dirty="0">
                <a:latin typeface="Arial" panose="020B0604020202020204" pitchFamily="34" charset="0"/>
                <a:ea typeface="新細明體" panose="02020500000000000000" pitchFamily="18" charset="-120"/>
                <a:cs typeface="Arial" panose="020B0604020202020204" pitchFamily="34" charset="0"/>
              </a:rPr>
              <a:t>ln[p/(1-p)] is the log odds, or "logit" </a:t>
            </a:r>
          </a:p>
        </p:txBody>
      </p:sp>
    </p:spTree>
    <p:extLst>
      <p:ext uri="{BB962C8B-B14F-4D97-AF65-F5344CB8AC3E}">
        <p14:creationId xmlns:p14="http://schemas.microsoft.com/office/powerpoint/2010/main" val="65640684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717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717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7171">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7171">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717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build="p"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dirty="0"/>
          </a:p>
        </p:txBody>
      </p:sp>
      <p:sp>
        <p:nvSpPr>
          <p:cNvPr id="3" name="內容版面配置區 2"/>
          <p:cNvSpPr>
            <a:spLocks noGrp="1"/>
          </p:cNvSpPr>
          <p:nvPr>
            <p:ph sz="quarter" idx="1"/>
          </p:nvPr>
        </p:nvSpPr>
        <p:spPr/>
        <p:txBody>
          <a:bodyPr/>
          <a:lstStyle/>
          <a:p>
            <a:endParaRPr lang="zh-TW" altLang="en-US"/>
          </a:p>
        </p:txBody>
      </p:sp>
      <p:pic>
        <p:nvPicPr>
          <p:cNvPr id="4" name="圖片 3"/>
          <p:cNvPicPr>
            <a:picLocks noChangeAspect="1"/>
          </p:cNvPicPr>
          <p:nvPr/>
        </p:nvPicPr>
        <p:blipFill>
          <a:blip r:embed="rId2"/>
          <a:stretch>
            <a:fillRect/>
          </a:stretch>
        </p:blipFill>
        <p:spPr>
          <a:xfrm>
            <a:off x="179512" y="1538603"/>
            <a:ext cx="8705850" cy="4543425"/>
          </a:xfrm>
          <a:prstGeom prst="rect">
            <a:avLst/>
          </a:prstGeom>
        </p:spPr>
      </p:pic>
    </p:spTree>
    <p:extLst>
      <p:ext uri="{BB962C8B-B14F-4D97-AF65-F5344CB8AC3E}">
        <p14:creationId xmlns:p14="http://schemas.microsoft.com/office/powerpoint/2010/main" val="13951327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194" name="Rectangle 2"/>
              <p:cNvSpPr>
                <a:spLocks noGrp="1" noChangeArrowheads="1"/>
              </p:cNvSpPr>
              <p:nvPr>
                <p:ph type="body" idx="1"/>
              </p:nvPr>
            </p:nvSpPr>
            <p:spPr>
              <a:xfrm>
                <a:off x="685800" y="381000"/>
                <a:ext cx="8206680" cy="6288360"/>
              </a:xfrm>
              <a:noFill/>
              <a:ln/>
            </p:spPr>
            <p:txBody>
              <a:bodyPr lIns="92075" tIns="46038" rIns="92075" bIns="46038">
                <a:normAutofit fontScale="92500" lnSpcReduction="20000"/>
              </a:bodyPr>
              <a:lstStyle/>
              <a:p>
                <a:pPr>
                  <a:buFont typeface="Wingdings" panose="05000000000000000000" pitchFamily="2" charset="2"/>
                  <a:buNone/>
                </a:pPr>
                <a:r>
                  <a:rPr lang="en-US" altLang="zh-TW" sz="2800" b="1" dirty="0">
                    <a:solidFill>
                      <a:schemeClr val="tx2"/>
                    </a:solidFill>
                    <a:latin typeface="Arial" panose="020B0604020202020204" pitchFamily="34" charset="0"/>
                    <a:ea typeface="新細明體" panose="02020500000000000000" pitchFamily="18" charset="-120"/>
                    <a:cs typeface="Arial" panose="020B0604020202020204" pitchFamily="34" charset="0"/>
                  </a:rPr>
                  <a:t>More:</a:t>
                </a:r>
                <a:endParaRPr lang="en-US" altLang="zh-TW" sz="2800" dirty="0">
                  <a:solidFill>
                    <a:schemeClr val="tx2"/>
                  </a:solidFill>
                  <a:latin typeface="Arial" panose="020B0604020202020204" pitchFamily="34" charset="0"/>
                  <a:ea typeface="新細明體" panose="02020500000000000000" pitchFamily="18" charset="-120"/>
                  <a:cs typeface="Arial" panose="020B0604020202020204" pitchFamily="34" charset="0"/>
                </a:endParaRPr>
              </a:p>
              <a:p>
                <a:pPr>
                  <a:buFont typeface="Wingdings" panose="05000000000000000000" pitchFamily="2" charset="2"/>
                  <a:buChar char="§"/>
                </a:pPr>
                <a:r>
                  <a:rPr lang="en-US" altLang="zh-TW" sz="2800" dirty="0">
                    <a:latin typeface="Arial" panose="020B0604020202020204" pitchFamily="34" charset="0"/>
                    <a:ea typeface="新細明體" panose="02020500000000000000" pitchFamily="18" charset="-120"/>
                    <a:cs typeface="Arial" panose="020B0604020202020204" pitchFamily="34" charset="0"/>
                  </a:rPr>
                  <a:t>The logistic distribution constrains the estimated probabilities to lie between 0 and 1. </a:t>
                </a:r>
              </a:p>
              <a:p>
                <a:pPr>
                  <a:buFont typeface="Wingdings" panose="05000000000000000000" pitchFamily="2" charset="2"/>
                  <a:buChar char="§"/>
                </a:pPr>
                <a:r>
                  <a:rPr lang="en-US" altLang="zh-TW" sz="2800" dirty="0">
                    <a:latin typeface="Arial" panose="020B0604020202020204" pitchFamily="34" charset="0"/>
                    <a:ea typeface="新細明體" panose="02020500000000000000" pitchFamily="18" charset="-120"/>
                    <a:cs typeface="Arial" panose="020B0604020202020204" pitchFamily="34" charset="0"/>
                  </a:rPr>
                  <a:t>The estimated probability uses</a:t>
                </a:r>
                <a:r>
                  <a:rPr lang="en-US" altLang="zh-TW" sz="2800" dirty="0">
                    <a:latin typeface="Arial" panose="020B0604020202020204" pitchFamily="34" charset="0"/>
                    <a:cs typeface="Arial" panose="020B0604020202020204" pitchFamily="34" charset="0"/>
                  </a:rPr>
                  <a:t> sigmoid function</a:t>
                </a:r>
                <a:r>
                  <a:rPr lang="en-US" altLang="zh-TW" dirty="0"/>
                  <a:t> </a:t>
                </a:r>
                <a:r>
                  <a:rPr lang="en-US" altLang="zh-TW" sz="2800" dirty="0">
                    <a:latin typeface="Arial" panose="020B0604020202020204" pitchFamily="34" charset="0"/>
                    <a:ea typeface="新細明體" panose="02020500000000000000" pitchFamily="18" charset="-120"/>
                    <a:cs typeface="Arial" panose="020B0604020202020204" pitchFamily="34" charset="0"/>
                  </a:rPr>
                  <a:t>:</a:t>
                </a:r>
                <a:br>
                  <a:rPr lang="en-US" altLang="zh-TW" sz="2800" dirty="0">
                    <a:latin typeface="Arial" panose="020B0604020202020204" pitchFamily="34" charset="0"/>
                    <a:ea typeface="新細明體" panose="02020500000000000000" pitchFamily="18" charset="-120"/>
                    <a:cs typeface="Arial" panose="020B0604020202020204" pitchFamily="34" charset="0"/>
                  </a:rPr>
                </a:br>
                <a:endParaRPr lang="en-US" altLang="zh-TW" sz="2800" dirty="0">
                  <a:latin typeface="Arial" panose="020B0604020202020204" pitchFamily="34" charset="0"/>
                  <a:cs typeface="Arial" panose="020B0604020202020204" pitchFamily="34" charset="0"/>
                </a:endParaRPr>
              </a:p>
              <a:p>
                <a:pPr marL="0" indent="0">
                  <a:buNone/>
                </a:pPr>
                <a:r>
                  <a:rPr lang="en-US" altLang="zh-TW" sz="2800" dirty="0">
                    <a:latin typeface="Arial" panose="020B0604020202020204" pitchFamily="34" charset="0"/>
                    <a:cs typeface="Arial" panose="020B0604020202020204" pitchFamily="34" charset="0"/>
                  </a:rPr>
                  <a:t> </a:t>
                </a:r>
                <a:r>
                  <a:rPr lang="el-GR" altLang="zh-TW" sz="2800" dirty="0">
                    <a:latin typeface="Arial" panose="020B0604020202020204" pitchFamily="34" charset="0"/>
                    <a:cs typeface="Arial" panose="020B0604020202020204" pitchFamily="34" charset="0"/>
                  </a:rPr>
                  <a:t>σ</a:t>
                </a:r>
                <a:r>
                  <a:rPr lang="en-US" altLang="zh-TW" sz="2800" dirty="0">
                    <a:latin typeface="Arial" panose="020B0604020202020204" pitchFamily="34" charset="0"/>
                    <a:cs typeface="Arial" panose="020B0604020202020204" pitchFamily="34" charset="0"/>
                  </a:rPr>
                  <a:t>(z) = </a:t>
                </a:r>
                <a14:m>
                  <m:oMath xmlns:m="http://schemas.openxmlformats.org/officeDocument/2006/math">
                    <m:f>
                      <m:fPr>
                        <m:ctrlPr>
                          <a:rPr lang="en-US" altLang="zh-TW" sz="2800" i="1" smtClean="0">
                            <a:latin typeface="Cambria Math" panose="02040503050406030204" pitchFamily="18" charset="0"/>
                            <a:cs typeface="Arial" panose="020B0604020202020204" pitchFamily="34" charset="0"/>
                          </a:rPr>
                        </m:ctrlPr>
                      </m:fPr>
                      <m:num>
                        <m:r>
                          <a:rPr lang="en-US" altLang="zh-TW" sz="2800" b="0" i="1" smtClean="0">
                            <a:latin typeface="Cambria Math" panose="02040503050406030204" pitchFamily="18" charset="0"/>
                            <a:cs typeface="Arial" panose="020B0604020202020204" pitchFamily="34" charset="0"/>
                          </a:rPr>
                          <m:t>1</m:t>
                        </m:r>
                      </m:num>
                      <m:den>
                        <m:r>
                          <m:rPr>
                            <m:nor/>
                          </m:rPr>
                          <a:rPr lang="en-US" altLang="zh-TW" sz="2800" dirty="0">
                            <a:latin typeface="Arial" panose="020B0604020202020204" pitchFamily="34" charset="0"/>
                            <a:cs typeface="Arial" panose="020B0604020202020204" pitchFamily="34" charset="0"/>
                          </a:rPr>
                          <m:t>1 + </m:t>
                        </m:r>
                        <m:r>
                          <m:rPr>
                            <m:nor/>
                          </m:rPr>
                          <a:rPr lang="en-US" altLang="zh-TW" sz="2800" dirty="0">
                            <a:latin typeface="Arial" panose="020B0604020202020204" pitchFamily="34" charset="0"/>
                            <a:cs typeface="Arial" panose="020B0604020202020204" pitchFamily="34" charset="0"/>
                          </a:rPr>
                          <m:t>e</m:t>
                        </m:r>
                        <m:r>
                          <m:rPr>
                            <m:nor/>
                          </m:rPr>
                          <a:rPr lang="en-US" altLang="zh-TW" sz="2800" baseline="30000" dirty="0">
                            <a:latin typeface="Arial" panose="020B0604020202020204" pitchFamily="34" charset="0"/>
                            <a:cs typeface="Arial" panose="020B0604020202020204" pitchFamily="34" charset="0"/>
                          </a:rPr>
                          <m:t>−</m:t>
                        </m:r>
                        <m:r>
                          <m:rPr>
                            <m:nor/>
                          </m:rPr>
                          <a:rPr lang="en-US" altLang="zh-TW" sz="2800" i="1" baseline="30000" dirty="0">
                            <a:latin typeface="Arial" panose="020B0604020202020204" pitchFamily="34" charset="0"/>
                            <a:cs typeface="Arial" panose="020B0604020202020204" pitchFamily="34" charset="0"/>
                            <a:sym typeface="Symbol" panose="05050102010706020507" pitchFamily="18" charset="2"/>
                          </a:rPr>
                          <m:t>z</m:t>
                        </m:r>
                      </m:den>
                    </m:f>
                  </m:oMath>
                </a14:m>
                <a:r>
                  <a:rPr lang="en-US" altLang="zh-TW" sz="2800" dirty="0">
                    <a:latin typeface="Arial" panose="020B0604020202020204" pitchFamily="34" charset="0"/>
                    <a:cs typeface="Arial" panose="020B0604020202020204" pitchFamily="34" charset="0"/>
                  </a:rPr>
                  <a:t>= </a:t>
                </a:r>
                <a14:m>
                  <m:oMath xmlns:m="http://schemas.openxmlformats.org/officeDocument/2006/math">
                    <m:f>
                      <m:fPr>
                        <m:ctrlPr>
                          <a:rPr lang="en-US" altLang="zh-TW" sz="2800" i="1">
                            <a:latin typeface="Cambria Math" panose="02040503050406030204" pitchFamily="18" charset="0"/>
                            <a:cs typeface="Arial" panose="020B0604020202020204" pitchFamily="34" charset="0"/>
                          </a:rPr>
                        </m:ctrlPr>
                      </m:fPr>
                      <m:num>
                        <m:r>
                          <a:rPr lang="en-US" altLang="zh-TW" sz="2800" i="1">
                            <a:latin typeface="Cambria Math" panose="02040503050406030204" pitchFamily="18" charset="0"/>
                            <a:cs typeface="Arial" panose="020B0604020202020204" pitchFamily="34" charset="0"/>
                          </a:rPr>
                          <m:t>1</m:t>
                        </m:r>
                      </m:num>
                      <m:den>
                        <m:r>
                          <m:rPr>
                            <m:nor/>
                          </m:rPr>
                          <a:rPr lang="en-US" altLang="zh-TW" sz="2800" dirty="0">
                            <a:latin typeface="Arial" panose="020B0604020202020204" pitchFamily="34" charset="0"/>
                            <a:cs typeface="Arial" panose="020B0604020202020204" pitchFamily="34" charset="0"/>
                          </a:rPr>
                          <m:t>1 + </m:t>
                        </m:r>
                        <m:r>
                          <m:rPr>
                            <m:nor/>
                          </m:rPr>
                          <a:rPr lang="en-US" altLang="zh-TW" sz="2800" dirty="0">
                            <a:latin typeface="Arial" panose="020B0604020202020204" pitchFamily="34" charset="0"/>
                            <a:cs typeface="Arial" panose="020B0604020202020204" pitchFamily="34" charset="0"/>
                          </a:rPr>
                          <m:t>e</m:t>
                        </m:r>
                        <m:r>
                          <m:rPr>
                            <m:nor/>
                          </m:rPr>
                          <a:rPr lang="en-US" altLang="zh-TW" sz="2800" b="0" i="0" dirty="0" smtClean="0">
                            <a:latin typeface="Arial" panose="020B0604020202020204" pitchFamily="34" charset="0"/>
                            <a:cs typeface="Arial" panose="020B0604020202020204" pitchFamily="34" charset="0"/>
                          </a:rPr>
                          <m:t> </m:t>
                        </m:r>
                        <m:r>
                          <m:rPr>
                            <m:nor/>
                          </m:rPr>
                          <a:rPr lang="en-US" altLang="zh-TW" sz="2800" b="0" i="0" baseline="30000" dirty="0" smtClean="0">
                            <a:latin typeface="Arial" panose="020B0604020202020204" pitchFamily="34" charset="0"/>
                            <a:cs typeface="Arial" panose="020B0604020202020204" pitchFamily="34" charset="0"/>
                          </a:rPr>
                          <m:t>−</m:t>
                        </m:r>
                        <m:r>
                          <m:rPr>
                            <m:nor/>
                          </m:rPr>
                          <a:rPr lang="en-US" altLang="zh-TW" sz="2800" baseline="30000" dirty="0">
                            <a:latin typeface="Arial" panose="020B0604020202020204" pitchFamily="34" charset="0"/>
                            <a:cs typeface="Arial" panose="020B0604020202020204" pitchFamily="34" charset="0"/>
                          </a:rPr>
                          <m:t>(</m:t>
                        </m:r>
                        <m:r>
                          <m:rPr>
                            <m:nor/>
                          </m:rPr>
                          <a:rPr lang="en-US" altLang="zh-TW" sz="2800" i="1" baseline="30000" dirty="0">
                            <a:latin typeface="Arial" panose="020B0604020202020204" pitchFamily="34" charset="0"/>
                            <a:cs typeface="Arial" panose="020B0604020202020204" pitchFamily="34" charset="0"/>
                            <a:sym typeface="Symbol" panose="05050102010706020507" pitchFamily="18" charset="2"/>
                          </a:rPr>
                          <m:t></m:t>
                        </m:r>
                        <m:r>
                          <m:rPr>
                            <m:nor/>
                          </m:rPr>
                          <a:rPr lang="en-US" altLang="zh-TW" sz="2800" baseline="30000" dirty="0">
                            <a:latin typeface="Arial" panose="020B0604020202020204" pitchFamily="34" charset="0"/>
                            <a:cs typeface="Arial" panose="020B0604020202020204" pitchFamily="34" charset="0"/>
                          </a:rPr>
                          <m:t> + </m:t>
                        </m:r>
                        <m:r>
                          <m:rPr>
                            <m:nor/>
                          </m:rPr>
                          <a:rPr lang="en-US" altLang="zh-TW" sz="2800" i="1" baseline="30000" dirty="0">
                            <a:latin typeface="Arial" panose="020B0604020202020204" pitchFamily="34" charset="0"/>
                            <a:cs typeface="Arial" panose="020B0604020202020204" pitchFamily="34" charset="0"/>
                            <a:sym typeface="Symbol" panose="05050102010706020507" pitchFamily="18" charset="2"/>
                          </a:rPr>
                          <m:t></m:t>
                        </m:r>
                        <m:r>
                          <m:rPr>
                            <m:nor/>
                          </m:rPr>
                          <a:rPr lang="en-US" altLang="zh-TW" sz="2800" i="1" baseline="30000" dirty="0">
                            <a:latin typeface="Arial" panose="020B0604020202020204" pitchFamily="34" charset="0"/>
                            <a:cs typeface="Arial" panose="020B0604020202020204" pitchFamily="34" charset="0"/>
                          </a:rPr>
                          <m:t> </m:t>
                        </m:r>
                        <m:r>
                          <m:rPr>
                            <m:nor/>
                          </m:rPr>
                          <a:rPr lang="en-US" altLang="zh-TW" sz="2800" baseline="30000" dirty="0">
                            <a:latin typeface="Arial" panose="020B0604020202020204" pitchFamily="34" charset="0"/>
                            <a:cs typeface="Arial" panose="020B0604020202020204" pitchFamily="34" charset="0"/>
                          </a:rPr>
                          <m:t>X</m:t>
                        </m:r>
                        <m:r>
                          <m:rPr>
                            <m:nor/>
                          </m:rPr>
                          <a:rPr lang="en-US" altLang="zh-TW" sz="2800" baseline="30000" dirty="0">
                            <a:latin typeface="Arial" panose="020B0604020202020204" pitchFamily="34" charset="0"/>
                            <a:cs typeface="Arial" panose="020B0604020202020204" pitchFamily="34" charset="0"/>
                          </a:rPr>
                          <m:t>)</m:t>
                        </m:r>
                        <m:r>
                          <a:rPr lang="zh-TW" altLang="en-US" sz="2800" i="1" baseline="30000" dirty="0" smtClean="0">
                            <a:latin typeface="Cambria Math" panose="02040503050406030204" pitchFamily="18" charset="0"/>
                            <a:cs typeface="Arial" panose="020B0604020202020204" pitchFamily="34" charset="0"/>
                          </a:rPr>
                          <m:t> </m:t>
                        </m:r>
                        <m:r>
                          <a:rPr lang="zh-TW" altLang="en-US" sz="2800" i="1" baseline="30000" dirty="0">
                            <a:latin typeface="Cambria Math" panose="02040503050406030204" pitchFamily="18" charset="0"/>
                            <a:cs typeface="Arial" panose="020B0604020202020204" pitchFamily="34" charset="0"/>
                          </a:rPr>
                          <m:t> </m:t>
                        </m:r>
                      </m:den>
                    </m:f>
                    <m:r>
                      <a:rPr lang="en-US" altLang="zh-TW" sz="2800" i="1" baseline="30000" dirty="0">
                        <a:latin typeface="Cambria Math" panose="02040503050406030204" pitchFamily="18" charset="0"/>
                        <a:cs typeface="Arial" panose="020B0604020202020204" pitchFamily="34" charset="0"/>
                        <a:sym typeface="Symbol" panose="05050102010706020507" pitchFamily="18" charset="2"/>
                      </a:rPr>
                      <m:t> </m:t>
                    </m:r>
                  </m:oMath>
                </a14:m>
                <a:r>
                  <a:rPr lang="en-US" altLang="zh-TW" sz="2800" dirty="0">
                    <a:latin typeface="Arial" panose="020B0604020202020204" pitchFamily="34" charset="0"/>
                    <a:cs typeface="Arial" panose="020B0604020202020204" pitchFamily="34" charset="0"/>
                  </a:rPr>
                  <a:t>   </a:t>
                </a:r>
                <a:r>
                  <a:rPr lang="en-US" altLang="zh-TW" sz="2400" dirty="0">
                    <a:latin typeface="Arial" panose="020B0604020202020204" pitchFamily="34" charset="0"/>
                    <a:cs typeface="Arial" panose="020B0604020202020204" pitchFamily="34" charset="0"/>
                  </a:rPr>
                  <a:t>where  </a:t>
                </a:r>
                <a:r>
                  <a:rPr lang="en-US" altLang="zh-TW" sz="2400" b="1" dirty="0">
                    <a:latin typeface="Arial" panose="020B0604020202020204" pitchFamily="34" charset="0"/>
                    <a:cs typeface="Arial" panose="020B0604020202020204" pitchFamily="34" charset="0"/>
                  </a:rPr>
                  <a:t>z  =</a:t>
                </a:r>
                <a:r>
                  <a:rPr lang="en-US" altLang="zh-TW" sz="2400" b="1" i="1" dirty="0">
                    <a:latin typeface="Arial" panose="020B0604020202020204" pitchFamily="34" charset="0"/>
                    <a:cs typeface="Arial" panose="020B0604020202020204" pitchFamily="34" charset="0"/>
                    <a:sym typeface="Symbol" panose="05050102010706020507" pitchFamily="18" charset="2"/>
                  </a:rPr>
                  <a:t> </a:t>
                </a:r>
                <a:r>
                  <a:rPr lang="en-US" altLang="zh-TW" sz="2400" b="1" dirty="0">
                    <a:latin typeface="Arial" panose="020B0604020202020204" pitchFamily="34" charset="0"/>
                    <a:cs typeface="Arial" panose="020B0604020202020204" pitchFamily="34" charset="0"/>
                  </a:rPr>
                  <a:t> + </a:t>
                </a:r>
                <a:r>
                  <a:rPr lang="en-US" altLang="zh-TW" sz="2400" b="1" i="1" dirty="0">
                    <a:latin typeface="Arial" panose="020B0604020202020204" pitchFamily="34" charset="0"/>
                    <a:cs typeface="Arial" panose="020B0604020202020204" pitchFamily="34" charset="0"/>
                    <a:sym typeface="Symbol" panose="05050102010706020507" pitchFamily="18" charset="2"/>
                  </a:rPr>
                  <a:t></a:t>
                </a:r>
                <a:r>
                  <a:rPr lang="en-US" altLang="zh-TW" sz="2400" b="1" i="1" dirty="0">
                    <a:latin typeface="Arial" panose="020B0604020202020204" pitchFamily="34" charset="0"/>
                    <a:cs typeface="Arial" panose="020B0604020202020204" pitchFamily="34" charset="0"/>
                  </a:rPr>
                  <a:t> </a:t>
                </a:r>
                <a:r>
                  <a:rPr lang="en-US" altLang="zh-TW" sz="2400" b="1" dirty="0">
                    <a:latin typeface="Arial" panose="020B0604020202020204" pitchFamily="34" charset="0"/>
                    <a:cs typeface="Arial" panose="020B0604020202020204" pitchFamily="34" charset="0"/>
                  </a:rPr>
                  <a:t>X </a:t>
                </a:r>
              </a:p>
              <a:p>
                <a:pPr marL="0" indent="0">
                  <a:buNone/>
                </a:pPr>
                <a:r>
                  <a:rPr lang="en-US" altLang="zh-TW" sz="2400" dirty="0">
                    <a:latin typeface="Arial" panose="020B0604020202020204" pitchFamily="34" charset="0"/>
                    <a:ea typeface="新細明體" panose="02020500000000000000" pitchFamily="18" charset="-120"/>
                    <a:cs typeface="Arial" panose="020B0604020202020204" pitchFamily="34" charset="0"/>
                  </a:rPr>
                  <a:t>                                                    -∞ &lt; </a:t>
                </a:r>
                <a:r>
                  <a:rPr lang="en-US" altLang="zh-TW" sz="2400" b="1" dirty="0">
                    <a:latin typeface="Arial" panose="020B0604020202020204" pitchFamily="34" charset="0"/>
                    <a:cs typeface="Arial" panose="020B0604020202020204" pitchFamily="34" charset="0"/>
                  </a:rPr>
                  <a:t>z</a:t>
                </a:r>
                <a:r>
                  <a:rPr lang="en-US" altLang="zh-TW" sz="2400" dirty="0">
                    <a:latin typeface="Arial" panose="020B0604020202020204" pitchFamily="34" charset="0"/>
                    <a:cs typeface="Arial" panose="020B0604020202020204" pitchFamily="34" charset="0"/>
                  </a:rPr>
                  <a:t> &lt; ∞ , 0&lt;= </a:t>
                </a:r>
                <a:r>
                  <a:rPr lang="el-GR" altLang="zh-TW" sz="2400" dirty="0">
                    <a:latin typeface="Arial" panose="020B0604020202020204" pitchFamily="34" charset="0"/>
                    <a:cs typeface="Arial" panose="020B0604020202020204" pitchFamily="34" charset="0"/>
                  </a:rPr>
                  <a:t>σ</a:t>
                </a:r>
                <a:r>
                  <a:rPr lang="en-US" altLang="zh-TW" sz="2400" dirty="0">
                    <a:latin typeface="Arial" panose="020B0604020202020204" pitchFamily="34" charset="0"/>
                    <a:cs typeface="Arial" panose="020B0604020202020204" pitchFamily="34" charset="0"/>
                  </a:rPr>
                  <a:t>(z) &lt;=1</a:t>
                </a:r>
                <a:br>
                  <a:rPr lang="en-US" altLang="zh-TW" sz="2400" dirty="0">
                    <a:latin typeface="Arial" panose="020B0604020202020204" pitchFamily="34" charset="0"/>
                    <a:ea typeface="新細明體" panose="02020500000000000000" pitchFamily="18" charset="-120"/>
                    <a:cs typeface="Arial" panose="020B0604020202020204" pitchFamily="34" charset="0"/>
                  </a:rPr>
                </a:br>
                <a:endParaRPr lang="en-US" altLang="zh-TW" sz="2400" dirty="0">
                  <a:latin typeface="Arial" panose="020B0604020202020204" pitchFamily="34" charset="0"/>
                  <a:ea typeface="新細明體" panose="02020500000000000000" pitchFamily="18" charset="-120"/>
                  <a:cs typeface="Arial" panose="020B0604020202020204" pitchFamily="34" charset="0"/>
                </a:endParaRPr>
              </a:p>
              <a:p>
                <a:pPr>
                  <a:buFont typeface="Wingdings" panose="05000000000000000000" pitchFamily="2" charset="2"/>
                  <a:buChar char="§"/>
                </a:pPr>
                <a:r>
                  <a:rPr lang="en-US" altLang="zh-TW" sz="2800" dirty="0">
                    <a:latin typeface="Arial" panose="020B0604020202020204" pitchFamily="34" charset="0"/>
                    <a:ea typeface="新細明體" panose="02020500000000000000" pitchFamily="18" charset="-120"/>
                    <a:cs typeface="Arial" panose="020B0604020202020204" pitchFamily="34" charset="0"/>
                  </a:rPr>
                  <a:t>p = p(Y=1) = </a:t>
                </a:r>
                <a:r>
                  <a:rPr lang="en-US" altLang="zh-TW" sz="2800" dirty="0">
                    <a:latin typeface="Arial" panose="020B0604020202020204" pitchFamily="34" charset="0"/>
                    <a:cs typeface="Arial" panose="020B0604020202020204" pitchFamily="34" charset="0"/>
                  </a:rPr>
                  <a:t>e</a:t>
                </a:r>
                <a:r>
                  <a:rPr lang="en-US" altLang="zh-TW" sz="2800" baseline="30000" dirty="0">
                    <a:latin typeface="Arial" panose="020B0604020202020204" pitchFamily="34" charset="0"/>
                    <a:cs typeface="Arial" panose="020B0604020202020204" pitchFamily="34" charset="0"/>
                  </a:rPr>
                  <a:t>(</a:t>
                </a:r>
                <a:r>
                  <a:rPr lang="en-US" altLang="zh-TW" sz="2800" i="1" baseline="30000" dirty="0">
                    <a:latin typeface="Arial" panose="020B0604020202020204" pitchFamily="34" charset="0"/>
                    <a:cs typeface="Arial" panose="020B0604020202020204" pitchFamily="34" charset="0"/>
                    <a:sym typeface="Symbol" panose="05050102010706020507" pitchFamily="18" charset="2"/>
                  </a:rPr>
                  <a:t> + </a:t>
                </a:r>
                <a:r>
                  <a:rPr lang="en-US" altLang="zh-TW" sz="2800" i="1" baseline="30000" dirty="0">
                    <a:latin typeface="Arial" panose="020B0604020202020204" pitchFamily="34" charset="0"/>
                    <a:cs typeface="Arial" panose="020B0604020202020204" pitchFamily="34" charset="0"/>
                  </a:rPr>
                  <a:t>X</a:t>
                </a:r>
                <a:r>
                  <a:rPr lang="en-US" altLang="zh-TW" sz="2800" baseline="30000" dirty="0">
                    <a:latin typeface="Arial" panose="020B0604020202020204" pitchFamily="34" charset="0"/>
                    <a:cs typeface="Arial" panose="020B0604020202020204" pitchFamily="34" charset="0"/>
                  </a:rPr>
                  <a:t>)</a:t>
                </a:r>
                <a:r>
                  <a:rPr lang="en-US" altLang="zh-TW" sz="2800" dirty="0">
                    <a:latin typeface="Arial" panose="020B0604020202020204" pitchFamily="34" charset="0"/>
                    <a:cs typeface="Arial" panose="020B0604020202020204" pitchFamily="34" charset="0"/>
                  </a:rPr>
                  <a:t>/[1 + e</a:t>
                </a:r>
                <a:r>
                  <a:rPr lang="en-US" altLang="zh-TW" sz="2800" baseline="30000" dirty="0">
                    <a:latin typeface="Arial" panose="020B0604020202020204" pitchFamily="34" charset="0"/>
                    <a:cs typeface="Arial" panose="020B0604020202020204" pitchFamily="34" charset="0"/>
                  </a:rPr>
                  <a:t>(</a:t>
                </a:r>
                <a:r>
                  <a:rPr lang="en-US" altLang="zh-TW" sz="2800" i="1" baseline="30000" dirty="0">
                    <a:latin typeface="Arial" panose="020B0604020202020204" pitchFamily="34" charset="0"/>
                    <a:cs typeface="Arial" panose="020B0604020202020204" pitchFamily="34" charset="0"/>
                    <a:sym typeface="Symbol" panose="05050102010706020507" pitchFamily="18" charset="2"/>
                  </a:rPr>
                  <a:t> + </a:t>
                </a:r>
                <a:r>
                  <a:rPr lang="en-US" altLang="zh-TW" sz="2800" i="1" baseline="30000" dirty="0">
                    <a:latin typeface="Arial" panose="020B0604020202020204" pitchFamily="34" charset="0"/>
                    <a:cs typeface="Arial" panose="020B0604020202020204" pitchFamily="34" charset="0"/>
                  </a:rPr>
                  <a:t>X</a:t>
                </a:r>
                <a:r>
                  <a:rPr lang="en-US" altLang="zh-TW" sz="2800" baseline="30000" dirty="0">
                    <a:latin typeface="Arial" panose="020B0604020202020204" pitchFamily="34" charset="0"/>
                    <a:cs typeface="Arial" panose="020B0604020202020204" pitchFamily="34" charset="0"/>
                  </a:rPr>
                  <a:t>) </a:t>
                </a:r>
                <a:r>
                  <a:rPr lang="en-US" altLang="zh-TW" sz="2800" dirty="0">
                    <a:latin typeface="Arial" panose="020B0604020202020204" pitchFamily="34" charset="0"/>
                    <a:cs typeface="Arial" panose="020B0604020202020204" pitchFamily="34" charset="0"/>
                  </a:rPr>
                  <a:t>] </a:t>
                </a:r>
              </a:p>
              <a:p>
                <a:pPr marL="0" indent="0">
                  <a:buNone/>
                </a:pPr>
                <a:r>
                  <a:rPr lang="en-US" altLang="zh-TW" sz="2800" dirty="0">
                    <a:latin typeface="Arial" panose="020B0604020202020204" pitchFamily="34" charset="0"/>
                    <a:cs typeface="Arial" panose="020B0604020202020204" pitchFamily="34" charset="0"/>
                  </a:rPr>
                  <a:t>                      = </a:t>
                </a:r>
                <a:r>
                  <a:rPr lang="en-US" altLang="zh-TW" sz="2800" dirty="0">
                    <a:latin typeface="Arial" panose="020B0604020202020204" pitchFamily="34" charset="0"/>
                    <a:ea typeface="新細明體" panose="02020500000000000000" pitchFamily="18" charset="-120"/>
                    <a:cs typeface="Arial" panose="020B0604020202020204" pitchFamily="34" charset="0"/>
                  </a:rPr>
                  <a:t>1/[1 + </a:t>
                </a:r>
                <a14:m>
                  <m:oMath xmlns:m="http://schemas.openxmlformats.org/officeDocument/2006/math">
                    <m:r>
                      <m:rPr>
                        <m:nor/>
                      </m:rPr>
                      <a:rPr lang="en-US" altLang="zh-TW" sz="2800" dirty="0">
                        <a:latin typeface="Arial" panose="020B0604020202020204" pitchFamily="34" charset="0"/>
                        <a:cs typeface="Arial" panose="020B0604020202020204" pitchFamily="34" charset="0"/>
                      </a:rPr>
                      <m:t>e</m:t>
                    </m:r>
                    <m:r>
                      <m:rPr>
                        <m:nor/>
                      </m:rPr>
                      <a:rPr lang="en-US" altLang="zh-TW" sz="2800" dirty="0">
                        <a:latin typeface="Arial" panose="020B0604020202020204" pitchFamily="34" charset="0"/>
                        <a:cs typeface="Arial" panose="020B0604020202020204" pitchFamily="34" charset="0"/>
                      </a:rPr>
                      <m:t> −(</m:t>
                    </m:r>
                    <m:r>
                      <m:rPr>
                        <m:nor/>
                      </m:rPr>
                      <a:rPr lang="en-US" altLang="zh-TW" sz="2800" i="1" baseline="30000" dirty="0">
                        <a:latin typeface="Arial" panose="020B0604020202020204" pitchFamily="34" charset="0"/>
                        <a:cs typeface="Arial" panose="020B0604020202020204" pitchFamily="34" charset="0"/>
                        <a:sym typeface="Symbol" panose="05050102010706020507" pitchFamily="18" charset="2"/>
                      </a:rPr>
                      <m:t></m:t>
                    </m:r>
                    <m:r>
                      <m:rPr>
                        <m:nor/>
                      </m:rPr>
                      <a:rPr lang="en-US" altLang="zh-TW" sz="2800" baseline="30000" dirty="0">
                        <a:latin typeface="Arial" panose="020B0604020202020204" pitchFamily="34" charset="0"/>
                        <a:cs typeface="Arial" panose="020B0604020202020204" pitchFamily="34" charset="0"/>
                      </a:rPr>
                      <m:t> + </m:t>
                    </m:r>
                    <m:r>
                      <m:rPr>
                        <m:nor/>
                      </m:rPr>
                      <a:rPr lang="en-US" altLang="zh-TW" sz="2800" i="1" baseline="30000" dirty="0">
                        <a:latin typeface="Arial" panose="020B0604020202020204" pitchFamily="34" charset="0"/>
                        <a:cs typeface="Arial" panose="020B0604020202020204" pitchFamily="34" charset="0"/>
                        <a:sym typeface="Symbol" panose="05050102010706020507" pitchFamily="18" charset="2"/>
                      </a:rPr>
                      <m:t></m:t>
                    </m:r>
                    <m:r>
                      <m:rPr>
                        <m:nor/>
                      </m:rPr>
                      <a:rPr lang="en-US" altLang="zh-TW" sz="2800" i="1" baseline="30000" dirty="0">
                        <a:latin typeface="Arial" panose="020B0604020202020204" pitchFamily="34" charset="0"/>
                        <a:cs typeface="Arial" panose="020B0604020202020204" pitchFamily="34" charset="0"/>
                      </a:rPr>
                      <m:t> </m:t>
                    </m:r>
                    <m:r>
                      <m:rPr>
                        <m:nor/>
                      </m:rPr>
                      <a:rPr lang="en-US" altLang="zh-TW" sz="2800" baseline="30000" dirty="0">
                        <a:latin typeface="Arial" panose="020B0604020202020204" pitchFamily="34" charset="0"/>
                        <a:cs typeface="Arial" panose="020B0604020202020204" pitchFamily="34" charset="0"/>
                      </a:rPr>
                      <m:t>X</m:t>
                    </m:r>
                    <m:r>
                      <m:rPr>
                        <m:nor/>
                      </m:rPr>
                      <a:rPr lang="en-US" altLang="zh-TW" sz="2800" baseline="30000" dirty="0">
                        <a:latin typeface="Arial" panose="020B0604020202020204" pitchFamily="34" charset="0"/>
                        <a:cs typeface="Arial" panose="020B0604020202020204" pitchFamily="34" charset="0"/>
                      </a:rPr>
                      <m:t>)</m:t>
                    </m:r>
                    <m:r>
                      <a:rPr lang="zh-TW" altLang="en-US" sz="2800" i="1" baseline="30000" dirty="0">
                        <a:latin typeface="Cambria Math" panose="02040503050406030204" pitchFamily="18" charset="0"/>
                        <a:cs typeface="Arial" panose="020B0604020202020204" pitchFamily="34" charset="0"/>
                      </a:rPr>
                      <m:t> </m:t>
                    </m:r>
                  </m:oMath>
                </a14:m>
                <a:r>
                  <a:rPr lang="en-US" altLang="zh-TW" sz="2800" dirty="0">
                    <a:latin typeface="Arial" panose="020B0604020202020204" pitchFamily="34" charset="0"/>
                    <a:ea typeface="新細明體" panose="02020500000000000000" pitchFamily="18" charset="-120"/>
                    <a:cs typeface="Arial" panose="020B0604020202020204" pitchFamily="34" charset="0"/>
                  </a:rPr>
                  <a:t>] </a:t>
                </a:r>
              </a:p>
              <a:p>
                <a:pPr marL="0" indent="0">
                  <a:buNone/>
                </a:pPr>
                <a:r>
                  <a:rPr lang="en-US" altLang="zh-TW" sz="2800" dirty="0">
                    <a:latin typeface="Arial" panose="020B0604020202020204" pitchFamily="34" charset="0"/>
                    <a:ea typeface="新細明體" panose="02020500000000000000" pitchFamily="18" charset="-120"/>
                    <a:cs typeface="Arial" panose="020B0604020202020204" pitchFamily="34" charset="0"/>
                  </a:rPr>
                  <a:t>   </a:t>
                </a:r>
                <a:r>
                  <a:rPr lang="en-US" altLang="zh-TW" sz="2800" dirty="0">
                    <a:latin typeface="Arial" panose="020B0604020202020204" pitchFamily="34" charset="0"/>
                    <a:cs typeface="Arial" panose="020B0604020202020204" pitchFamily="34" charset="0"/>
                  </a:rPr>
                  <a:t>p(Y=0) = 1-p = 1/[1 + e</a:t>
                </a:r>
                <a:r>
                  <a:rPr lang="en-US" altLang="zh-TW" sz="2800" baseline="30000" dirty="0">
                    <a:latin typeface="Arial" panose="020B0604020202020204" pitchFamily="34" charset="0"/>
                    <a:cs typeface="Arial" panose="020B0604020202020204" pitchFamily="34" charset="0"/>
                  </a:rPr>
                  <a:t>(</a:t>
                </a:r>
                <a:r>
                  <a:rPr lang="en-US" altLang="zh-TW" sz="2800" i="1" baseline="30000" dirty="0">
                    <a:latin typeface="Arial" panose="020B0604020202020204" pitchFamily="34" charset="0"/>
                    <a:cs typeface="Arial" panose="020B0604020202020204" pitchFamily="34" charset="0"/>
                    <a:sym typeface="Symbol" panose="05050102010706020507" pitchFamily="18" charset="2"/>
                  </a:rPr>
                  <a:t> + </a:t>
                </a:r>
                <a:r>
                  <a:rPr lang="en-US" altLang="zh-TW" sz="2800" i="1" baseline="30000" dirty="0">
                    <a:latin typeface="Arial" panose="020B0604020202020204" pitchFamily="34" charset="0"/>
                    <a:cs typeface="Arial" panose="020B0604020202020204" pitchFamily="34" charset="0"/>
                  </a:rPr>
                  <a:t>X</a:t>
                </a:r>
                <a:r>
                  <a:rPr lang="en-US" altLang="zh-TW" sz="2800" baseline="30000" dirty="0">
                    <a:latin typeface="Arial" panose="020B0604020202020204" pitchFamily="34" charset="0"/>
                    <a:cs typeface="Arial" panose="020B0604020202020204" pitchFamily="34" charset="0"/>
                  </a:rPr>
                  <a:t>) </a:t>
                </a:r>
                <a:r>
                  <a:rPr lang="en-US" altLang="zh-TW" sz="2800" dirty="0">
                    <a:latin typeface="Arial" panose="020B0604020202020204" pitchFamily="34" charset="0"/>
                    <a:cs typeface="Arial" panose="020B0604020202020204" pitchFamily="34" charset="0"/>
                  </a:rPr>
                  <a:t>]</a:t>
                </a:r>
                <a:br>
                  <a:rPr lang="en-US" altLang="zh-TW" sz="2800" dirty="0">
                    <a:latin typeface="Arial" panose="020B0604020202020204" pitchFamily="34" charset="0"/>
                    <a:ea typeface="新細明體" panose="02020500000000000000" pitchFamily="18" charset="-120"/>
                    <a:cs typeface="Arial" panose="020B0604020202020204" pitchFamily="34" charset="0"/>
                  </a:rPr>
                </a:br>
                <a:endParaRPr lang="en-US" altLang="zh-TW" sz="2800" dirty="0">
                  <a:latin typeface="Arial" panose="020B0604020202020204" pitchFamily="34" charset="0"/>
                  <a:ea typeface="新細明體" panose="02020500000000000000" pitchFamily="18" charset="-120"/>
                  <a:cs typeface="Arial" panose="020B0604020202020204" pitchFamily="34" charset="0"/>
                </a:endParaRPr>
              </a:p>
              <a:p>
                <a:pPr>
                  <a:buFont typeface="Wingdings" panose="05000000000000000000" pitchFamily="2" charset="2"/>
                  <a:buChar char="§"/>
                </a:pPr>
                <a:r>
                  <a:rPr lang="en-US" altLang="zh-TW" sz="2800" dirty="0">
                    <a:latin typeface="Arial" panose="020B0604020202020204" pitchFamily="34" charset="0"/>
                    <a:ea typeface="新細明體" panose="02020500000000000000" pitchFamily="18" charset="-120"/>
                    <a:cs typeface="Arial" panose="020B0604020202020204" pitchFamily="34" charset="0"/>
                  </a:rPr>
                  <a:t>if you let </a:t>
                </a:r>
                <a:r>
                  <a:rPr lang="en-US" altLang="zh-TW" sz="2800" i="1" dirty="0">
                    <a:latin typeface="Arial" panose="020B0604020202020204" pitchFamily="34" charset="0"/>
                    <a:ea typeface="新細明體" panose="02020500000000000000" pitchFamily="18" charset="-120"/>
                    <a:cs typeface="Arial" panose="020B0604020202020204" pitchFamily="34" charset="0"/>
                    <a:sym typeface="Symbol" panose="05050102010706020507" pitchFamily="18" charset="2"/>
                  </a:rPr>
                  <a:t></a:t>
                </a:r>
                <a:r>
                  <a:rPr lang="en-US" altLang="zh-TW" sz="2800" dirty="0">
                    <a:latin typeface="Arial" panose="020B0604020202020204" pitchFamily="34" charset="0"/>
                    <a:ea typeface="新細明體" panose="02020500000000000000" pitchFamily="18" charset="-120"/>
                    <a:cs typeface="Arial" panose="020B0604020202020204" pitchFamily="34" charset="0"/>
                  </a:rPr>
                  <a:t> + </a:t>
                </a:r>
                <a:r>
                  <a:rPr lang="en-US" altLang="zh-TW" sz="2800" i="1" dirty="0">
                    <a:latin typeface="Arial" panose="020B0604020202020204" pitchFamily="34" charset="0"/>
                    <a:ea typeface="新細明體" panose="02020500000000000000" pitchFamily="18" charset="-120"/>
                    <a:cs typeface="Arial" panose="020B0604020202020204" pitchFamily="34" charset="0"/>
                    <a:sym typeface="Symbol" panose="05050102010706020507" pitchFamily="18" charset="2"/>
                  </a:rPr>
                  <a:t></a:t>
                </a:r>
                <a:r>
                  <a:rPr lang="en-US" altLang="zh-TW" sz="2800" i="1" dirty="0">
                    <a:latin typeface="Arial" panose="020B0604020202020204" pitchFamily="34" charset="0"/>
                    <a:ea typeface="新細明體" panose="02020500000000000000" pitchFamily="18" charset="-120"/>
                    <a:cs typeface="Arial" panose="020B0604020202020204" pitchFamily="34" charset="0"/>
                  </a:rPr>
                  <a:t> </a:t>
                </a:r>
                <a:r>
                  <a:rPr lang="en-US" altLang="zh-TW" sz="2800" dirty="0">
                    <a:latin typeface="Arial" panose="020B0604020202020204" pitchFamily="34" charset="0"/>
                    <a:ea typeface="新細明體" panose="02020500000000000000" pitchFamily="18" charset="-120"/>
                    <a:cs typeface="Arial" panose="020B0604020202020204" pitchFamily="34" charset="0"/>
                  </a:rPr>
                  <a:t>X =0, then p = .50 </a:t>
                </a:r>
              </a:p>
              <a:p>
                <a:pPr>
                  <a:buFont typeface="Wingdings" panose="05000000000000000000" pitchFamily="2" charset="2"/>
                  <a:buChar char="§"/>
                </a:pPr>
                <a:r>
                  <a:rPr lang="en-US" altLang="zh-TW" sz="2800" dirty="0">
                    <a:latin typeface="Arial" panose="020B0604020202020204" pitchFamily="34" charset="0"/>
                    <a:ea typeface="新細明體" panose="02020500000000000000" pitchFamily="18" charset="-120"/>
                    <a:cs typeface="Arial" panose="020B0604020202020204" pitchFamily="34" charset="0"/>
                  </a:rPr>
                  <a:t>as </a:t>
                </a:r>
                <a:r>
                  <a:rPr lang="en-US" altLang="zh-TW" sz="2800" i="1" dirty="0">
                    <a:latin typeface="Arial" panose="020B0604020202020204" pitchFamily="34" charset="0"/>
                    <a:ea typeface="新細明體" panose="02020500000000000000" pitchFamily="18" charset="-120"/>
                    <a:cs typeface="Arial" panose="020B0604020202020204" pitchFamily="34" charset="0"/>
                    <a:sym typeface="Symbol" panose="05050102010706020507" pitchFamily="18" charset="2"/>
                  </a:rPr>
                  <a:t></a:t>
                </a:r>
                <a:r>
                  <a:rPr lang="en-US" altLang="zh-TW" sz="2800" dirty="0">
                    <a:latin typeface="Arial" panose="020B0604020202020204" pitchFamily="34" charset="0"/>
                    <a:ea typeface="新細明體" panose="02020500000000000000" pitchFamily="18" charset="-120"/>
                    <a:cs typeface="Arial" panose="020B0604020202020204" pitchFamily="34" charset="0"/>
                  </a:rPr>
                  <a:t> + </a:t>
                </a:r>
                <a:r>
                  <a:rPr lang="en-US" altLang="zh-TW" sz="2800" i="1" dirty="0">
                    <a:latin typeface="Arial" panose="020B0604020202020204" pitchFamily="34" charset="0"/>
                    <a:ea typeface="新細明體" panose="02020500000000000000" pitchFamily="18" charset="-120"/>
                    <a:cs typeface="Arial" panose="020B0604020202020204" pitchFamily="34" charset="0"/>
                    <a:sym typeface="Symbol" panose="05050102010706020507" pitchFamily="18" charset="2"/>
                  </a:rPr>
                  <a:t></a:t>
                </a:r>
                <a:r>
                  <a:rPr lang="en-US" altLang="zh-TW" sz="2800" i="1" dirty="0">
                    <a:latin typeface="Arial" panose="020B0604020202020204" pitchFamily="34" charset="0"/>
                    <a:ea typeface="新細明體" panose="02020500000000000000" pitchFamily="18" charset="-120"/>
                    <a:cs typeface="Arial" panose="020B0604020202020204" pitchFamily="34" charset="0"/>
                  </a:rPr>
                  <a:t> </a:t>
                </a:r>
                <a:r>
                  <a:rPr lang="en-US" altLang="zh-TW" sz="2800" dirty="0">
                    <a:latin typeface="Arial" panose="020B0604020202020204" pitchFamily="34" charset="0"/>
                    <a:ea typeface="新細明體" panose="02020500000000000000" pitchFamily="18" charset="-120"/>
                    <a:cs typeface="Arial" panose="020B0604020202020204" pitchFamily="34" charset="0"/>
                  </a:rPr>
                  <a:t>X gets really big, p approaches 1 </a:t>
                </a:r>
              </a:p>
              <a:p>
                <a:pPr>
                  <a:buFont typeface="Wingdings" panose="05000000000000000000" pitchFamily="2" charset="2"/>
                  <a:buChar char="§"/>
                </a:pPr>
                <a:r>
                  <a:rPr lang="en-US" altLang="zh-TW" sz="2800" dirty="0">
                    <a:latin typeface="Arial" panose="020B0604020202020204" pitchFamily="34" charset="0"/>
                    <a:ea typeface="新細明體" panose="02020500000000000000" pitchFamily="18" charset="-120"/>
                    <a:cs typeface="Arial" panose="020B0604020202020204" pitchFamily="34" charset="0"/>
                  </a:rPr>
                  <a:t>as </a:t>
                </a:r>
                <a:r>
                  <a:rPr lang="en-US" altLang="zh-TW" sz="2800" i="1" dirty="0">
                    <a:latin typeface="Arial" panose="020B0604020202020204" pitchFamily="34" charset="0"/>
                    <a:ea typeface="新細明體" panose="02020500000000000000" pitchFamily="18" charset="-120"/>
                    <a:cs typeface="Arial" panose="020B0604020202020204" pitchFamily="34" charset="0"/>
                    <a:sym typeface="Symbol" panose="05050102010706020507" pitchFamily="18" charset="2"/>
                  </a:rPr>
                  <a:t></a:t>
                </a:r>
                <a:r>
                  <a:rPr lang="en-US" altLang="zh-TW" sz="2800" dirty="0">
                    <a:latin typeface="Arial" panose="020B0604020202020204" pitchFamily="34" charset="0"/>
                    <a:ea typeface="新細明體" panose="02020500000000000000" pitchFamily="18" charset="-120"/>
                    <a:cs typeface="Arial" panose="020B0604020202020204" pitchFamily="34" charset="0"/>
                  </a:rPr>
                  <a:t> + </a:t>
                </a:r>
                <a:r>
                  <a:rPr lang="en-US" altLang="zh-TW" sz="2800" i="1" dirty="0">
                    <a:latin typeface="Arial" panose="020B0604020202020204" pitchFamily="34" charset="0"/>
                    <a:ea typeface="新細明體" panose="02020500000000000000" pitchFamily="18" charset="-120"/>
                    <a:cs typeface="Arial" panose="020B0604020202020204" pitchFamily="34" charset="0"/>
                    <a:sym typeface="Symbol" panose="05050102010706020507" pitchFamily="18" charset="2"/>
                  </a:rPr>
                  <a:t></a:t>
                </a:r>
                <a:r>
                  <a:rPr lang="en-US" altLang="zh-TW" sz="2800" i="1" dirty="0">
                    <a:latin typeface="Arial" panose="020B0604020202020204" pitchFamily="34" charset="0"/>
                    <a:ea typeface="新細明體" panose="02020500000000000000" pitchFamily="18" charset="-120"/>
                    <a:cs typeface="Arial" panose="020B0604020202020204" pitchFamily="34" charset="0"/>
                  </a:rPr>
                  <a:t> </a:t>
                </a:r>
                <a:r>
                  <a:rPr lang="en-US" altLang="zh-TW" sz="2800" dirty="0">
                    <a:latin typeface="Arial" panose="020B0604020202020204" pitchFamily="34" charset="0"/>
                    <a:ea typeface="新細明體" panose="02020500000000000000" pitchFamily="18" charset="-120"/>
                    <a:cs typeface="Arial" panose="020B0604020202020204" pitchFamily="34" charset="0"/>
                  </a:rPr>
                  <a:t>X gets really small, p approaches 0</a:t>
                </a:r>
              </a:p>
            </p:txBody>
          </p:sp>
        </mc:Choice>
        <mc:Fallback xmlns="">
          <p:sp>
            <p:nvSpPr>
              <p:cNvPr id="8194" name="Rectangle 2"/>
              <p:cNvSpPr>
                <a:spLocks noGrp="1" noRot="1" noChangeAspect="1" noMove="1" noResize="1" noEditPoints="1" noAdjustHandles="1" noChangeArrowheads="1" noChangeShapeType="1" noTextEdit="1"/>
              </p:cNvSpPr>
              <p:nvPr>
                <p:ph type="body" idx="1"/>
              </p:nvPr>
            </p:nvSpPr>
            <p:spPr>
              <a:xfrm>
                <a:off x="685800" y="381000"/>
                <a:ext cx="8206680" cy="6288360"/>
              </a:xfrm>
              <a:blipFill>
                <a:blip r:embed="rId2"/>
                <a:stretch>
                  <a:fillRect l="-1337" t="-2231"/>
                </a:stretch>
              </a:blipFill>
              <a:ln/>
            </p:spPr>
            <p:txBody>
              <a:bodyPr/>
              <a:lstStyle/>
              <a:p>
                <a:r>
                  <a:rPr lang="zh-TW" altLang="en-US">
                    <a:noFill/>
                  </a:rPr>
                  <a:t> </a:t>
                </a:r>
              </a:p>
            </p:txBody>
          </p:sp>
        </mc:Fallback>
      </mc:AlternateContent>
    </p:spTree>
    <p:extLst>
      <p:ext uri="{BB962C8B-B14F-4D97-AF65-F5344CB8AC3E}">
        <p14:creationId xmlns:p14="http://schemas.microsoft.com/office/powerpoint/2010/main" val="330465200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819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819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819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819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819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819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819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819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499"/>
                                          </p:stCondLst>
                                        </p:cTn>
                                        <p:tgtEl>
                                          <p:spTgt spid="819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499"/>
                                          </p:stCondLst>
                                        </p:cTn>
                                        <p:tgtEl>
                                          <p:spTgt spid="819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499"/>
                                          </p:stCondLst>
                                        </p:cTn>
                                        <p:tgtEl>
                                          <p:spTgt spid="8194">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4" grpId="0" build="p"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218" name="Object 2"/>
          <p:cNvGraphicFramePr>
            <a:graphicFrameLocks/>
          </p:cNvGraphicFramePr>
          <p:nvPr>
            <p:extLst>
              <p:ext uri="{D42A27DB-BD31-4B8C-83A1-F6EECF244321}">
                <p14:modId xmlns:p14="http://schemas.microsoft.com/office/powerpoint/2010/main" val="2555723494"/>
              </p:ext>
            </p:extLst>
          </p:nvPr>
        </p:nvGraphicFramePr>
        <p:xfrm>
          <a:off x="-479458" y="-171400"/>
          <a:ext cx="9649072" cy="7560840"/>
        </p:xfrm>
        <a:graphic>
          <a:graphicData uri="http://schemas.openxmlformats.org/presentationml/2006/ole">
            <mc:AlternateContent xmlns:mc="http://schemas.openxmlformats.org/markup-compatibility/2006">
              <mc:Choice xmlns:v="urn:schemas-microsoft-com:vml" Requires="v">
                <p:oleObj spid="_x0000_s4252" name="Photo House" r:id="rId3" imgW="4631934" imgH="3492197" progId="Photohse.Document">
                  <p:embed/>
                </p:oleObj>
              </mc:Choice>
              <mc:Fallback>
                <p:oleObj name="Photo House" r:id="rId3" imgW="4631934" imgH="3492197" progId="Photohse.Document">
                  <p:embed/>
                  <p:pic>
                    <p:nvPicPr>
                      <p:cNvPr id="9218" name="Object 2"/>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9458" y="-171400"/>
                        <a:ext cx="9649072" cy="7560840"/>
                      </a:xfrm>
                      <a:prstGeom prst="rect">
                        <a:avLst/>
                      </a:prstGeom>
                      <a:noFill/>
                      <a:ln>
                        <a:noFill/>
                      </a:ln>
                      <a:effectLst/>
                    </p:spPr>
                  </p:pic>
                </p:oleObj>
              </mc:Fallback>
            </mc:AlternateContent>
          </a:graphicData>
        </a:graphic>
      </p:graphicFrame>
      <p:sp>
        <p:nvSpPr>
          <p:cNvPr id="2" name="文字方塊 1"/>
          <p:cNvSpPr txBox="1"/>
          <p:nvPr/>
        </p:nvSpPr>
        <p:spPr>
          <a:xfrm>
            <a:off x="6228184" y="1052736"/>
            <a:ext cx="2355132" cy="523220"/>
          </a:xfrm>
          <a:prstGeom prst="rect">
            <a:avLst/>
          </a:prstGeom>
          <a:noFill/>
        </p:spPr>
        <p:txBody>
          <a:bodyPr wrap="none" rtlCol="0">
            <a:spAutoFit/>
          </a:bodyPr>
          <a:lstStyle/>
          <a:p>
            <a:r>
              <a:rPr lang="en-US" altLang="zh-TW" sz="2800" dirty="0"/>
              <a:t>sigmoid function</a:t>
            </a:r>
            <a:endParaRPr lang="zh-TW" altLang="en-US" sz="2800" dirty="0"/>
          </a:p>
        </p:txBody>
      </p:sp>
      <mc:AlternateContent xmlns:mc="http://schemas.openxmlformats.org/markup-compatibility/2006" xmlns:a14="http://schemas.microsoft.com/office/drawing/2010/main">
        <mc:Choice Requires="a14">
          <p:sp>
            <p:nvSpPr>
              <p:cNvPr id="5" name="文字方塊 4">
                <a:extLst>
                  <a:ext uri="{FF2B5EF4-FFF2-40B4-BE49-F238E27FC236}">
                    <a16:creationId xmlns:a16="http://schemas.microsoft.com/office/drawing/2014/main" id="{E971ED4E-D3E1-4647-BDB1-C6ECF7C7C588}"/>
                  </a:ext>
                </a:extLst>
              </p:cNvPr>
              <p:cNvSpPr txBox="1"/>
              <p:nvPr/>
            </p:nvSpPr>
            <p:spPr>
              <a:xfrm>
                <a:off x="7025718" y="1575956"/>
                <a:ext cx="4875290" cy="492571"/>
              </a:xfrm>
              <a:prstGeom prst="rect">
                <a:avLst/>
              </a:prstGeom>
              <a:noFill/>
            </p:spPr>
            <p:txBody>
              <a:bodyPr wrap="square">
                <a:spAutoFit/>
              </a:bodyPr>
              <a:lstStyle/>
              <a:p>
                <a:r>
                  <a:rPr lang="en-US" altLang="zh-TW" sz="1800" dirty="0">
                    <a:solidFill>
                      <a:srgbClr val="6600FF"/>
                    </a:solidFill>
                    <a:latin typeface="Arial" panose="020B0604020202020204" pitchFamily="34" charset="0"/>
                    <a:cs typeface="Arial" panose="020B0604020202020204" pitchFamily="34" charset="0"/>
                  </a:rPr>
                  <a:t>Y= </a:t>
                </a:r>
                <a:r>
                  <a:rPr lang="el-GR" altLang="zh-TW" sz="1800" dirty="0">
                    <a:solidFill>
                      <a:srgbClr val="6600FF"/>
                    </a:solidFill>
                    <a:latin typeface="Arial" panose="020B0604020202020204" pitchFamily="34" charset="0"/>
                    <a:cs typeface="Arial" panose="020B0604020202020204" pitchFamily="34" charset="0"/>
                  </a:rPr>
                  <a:t>σ</a:t>
                </a:r>
                <a:r>
                  <a:rPr lang="en-US" altLang="zh-TW" sz="1800" dirty="0">
                    <a:solidFill>
                      <a:srgbClr val="6600FF"/>
                    </a:solidFill>
                    <a:latin typeface="Arial" panose="020B0604020202020204" pitchFamily="34" charset="0"/>
                    <a:cs typeface="Arial" panose="020B0604020202020204" pitchFamily="34" charset="0"/>
                  </a:rPr>
                  <a:t>(x) = </a:t>
                </a:r>
                <a14:m>
                  <m:oMath xmlns:m="http://schemas.openxmlformats.org/officeDocument/2006/math">
                    <m:f>
                      <m:fPr>
                        <m:ctrlPr>
                          <a:rPr lang="en-US" altLang="zh-TW" sz="1800" i="1" smtClean="0">
                            <a:solidFill>
                              <a:srgbClr val="6600FF"/>
                            </a:solidFill>
                            <a:latin typeface="Cambria Math" panose="02040503050406030204" pitchFamily="18" charset="0"/>
                            <a:cs typeface="Arial" panose="020B0604020202020204" pitchFamily="34" charset="0"/>
                          </a:rPr>
                        </m:ctrlPr>
                      </m:fPr>
                      <m:num>
                        <m:r>
                          <a:rPr lang="en-US" altLang="zh-TW" sz="1800" b="0" i="1" smtClean="0">
                            <a:solidFill>
                              <a:srgbClr val="6600FF"/>
                            </a:solidFill>
                            <a:latin typeface="Cambria Math" panose="02040503050406030204" pitchFamily="18" charset="0"/>
                            <a:cs typeface="Arial" panose="020B0604020202020204" pitchFamily="34" charset="0"/>
                          </a:rPr>
                          <m:t>1</m:t>
                        </m:r>
                      </m:num>
                      <m:den>
                        <m:r>
                          <m:rPr>
                            <m:nor/>
                          </m:rPr>
                          <a:rPr lang="en-US" altLang="zh-TW" sz="1800" dirty="0">
                            <a:solidFill>
                              <a:srgbClr val="6600FF"/>
                            </a:solidFill>
                            <a:latin typeface="Arial" panose="020B0604020202020204" pitchFamily="34" charset="0"/>
                            <a:cs typeface="Arial" panose="020B0604020202020204" pitchFamily="34" charset="0"/>
                          </a:rPr>
                          <m:t>1 + </m:t>
                        </m:r>
                        <m:r>
                          <m:rPr>
                            <m:nor/>
                          </m:rPr>
                          <a:rPr lang="en-US" altLang="zh-TW" sz="1800" dirty="0">
                            <a:solidFill>
                              <a:srgbClr val="6600FF"/>
                            </a:solidFill>
                            <a:latin typeface="Arial" panose="020B0604020202020204" pitchFamily="34" charset="0"/>
                            <a:cs typeface="Arial" panose="020B0604020202020204" pitchFamily="34" charset="0"/>
                          </a:rPr>
                          <m:t>e</m:t>
                        </m:r>
                        <m:r>
                          <m:rPr>
                            <m:nor/>
                          </m:rPr>
                          <a:rPr lang="en-US" altLang="zh-TW" sz="1800" baseline="30000" dirty="0">
                            <a:solidFill>
                              <a:srgbClr val="6600FF"/>
                            </a:solidFill>
                            <a:latin typeface="Arial" panose="020B0604020202020204" pitchFamily="34" charset="0"/>
                            <a:cs typeface="Arial" panose="020B0604020202020204" pitchFamily="34" charset="0"/>
                          </a:rPr>
                          <m:t>−</m:t>
                        </m:r>
                        <m:r>
                          <m:rPr>
                            <m:nor/>
                          </m:rPr>
                          <a:rPr lang="en-US" altLang="zh-TW" sz="1800" b="0" i="1" baseline="30000" dirty="0" smtClean="0">
                            <a:solidFill>
                              <a:srgbClr val="6600FF"/>
                            </a:solidFill>
                            <a:latin typeface="Arial" panose="020B0604020202020204" pitchFamily="34" charset="0"/>
                            <a:cs typeface="Arial" panose="020B0604020202020204" pitchFamily="34" charset="0"/>
                            <a:sym typeface="Symbol" panose="05050102010706020507" pitchFamily="18" charset="2"/>
                          </a:rPr>
                          <m:t>x</m:t>
                        </m:r>
                      </m:den>
                    </m:f>
                  </m:oMath>
                </a14:m>
                <a:endParaRPr lang="zh-TW" altLang="en-US" dirty="0">
                  <a:solidFill>
                    <a:srgbClr val="0066FF"/>
                  </a:solidFill>
                </a:endParaRPr>
              </a:p>
            </p:txBody>
          </p:sp>
        </mc:Choice>
        <mc:Fallback xmlns="">
          <p:sp>
            <p:nvSpPr>
              <p:cNvPr id="5" name="文字方塊 4">
                <a:extLst>
                  <a:ext uri="{FF2B5EF4-FFF2-40B4-BE49-F238E27FC236}">
                    <a16:creationId xmlns:a16="http://schemas.microsoft.com/office/drawing/2014/main" id="{E971ED4E-D3E1-4647-BDB1-C6ECF7C7C588}"/>
                  </a:ext>
                </a:extLst>
              </p:cNvPr>
              <p:cNvSpPr txBox="1">
                <a:spLocks noRot="1" noChangeAspect="1" noMove="1" noResize="1" noEditPoints="1" noAdjustHandles="1" noChangeArrowheads="1" noChangeShapeType="1" noTextEdit="1"/>
              </p:cNvSpPr>
              <p:nvPr/>
            </p:nvSpPr>
            <p:spPr>
              <a:xfrm>
                <a:off x="7025718" y="1575956"/>
                <a:ext cx="4875290" cy="492571"/>
              </a:xfrm>
              <a:prstGeom prst="rect">
                <a:avLst/>
              </a:prstGeom>
              <a:blipFill>
                <a:blip r:embed="rId5"/>
                <a:stretch>
                  <a:fillRect l="-1126" b="-7500"/>
                </a:stretch>
              </a:blipFill>
            </p:spPr>
            <p:txBody>
              <a:bodyPr/>
              <a:lstStyle/>
              <a:p>
                <a:r>
                  <a:rPr lang="zh-TW" altLang="en-US">
                    <a:noFill/>
                  </a:rPr>
                  <a:t> </a:t>
                </a:r>
              </a:p>
            </p:txBody>
          </p:sp>
        </mc:Fallback>
      </mc:AlternateContent>
      <p:sp>
        <p:nvSpPr>
          <p:cNvPr id="7" name="文字方塊 6">
            <a:extLst>
              <a:ext uri="{FF2B5EF4-FFF2-40B4-BE49-F238E27FC236}">
                <a16:creationId xmlns:a16="http://schemas.microsoft.com/office/drawing/2014/main" id="{6C9526C3-FAB9-4808-BB02-6EA94096281A}"/>
              </a:ext>
            </a:extLst>
          </p:cNvPr>
          <p:cNvSpPr txBox="1"/>
          <p:nvPr/>
        </p:nvSpPr>
        <p:spPr>
          <a:xfrm>
            <a:off x="2954410" y="5877272"/>
            <a:ext cx="6215204" cy="369332"/>
          </a:xfrm>
          <a:prstGeom prst="rect">
            <a:avLst/>
          </a:prstGeom>
          <a:noFill/>
        </p:spPr>
        <p:txBody>
          <a:bodyPr wrap="square">
            <a:spAutoFit/>
          </a:bodyPr>
          <a:lstStyle/>
          <a:p>
            <a:r>
              <a:rPr lang="en-US" altLang="zh-TW" dirty="0">
                <a:solidFill>
                  <a:srgbClr val="FF0000"/>
                </a:solidFill>
                <a:latin typeface="Arial" panose="020B0604020202020204" pitchFamily="34" charset="0"/>
                <a:cs typeface="Arial" panose="020B0604020202020204" pitchFamily="34" charset="0"/>
              </a:rPr>
              <a:t>Y</a:t>
            </a:r>
            <a:r>
              <a:rPr lang="en-US" altLang="zh-TW" sz="1800" dirty="0">
                <a:solidFill>
                  <a:srgbClr val="FF0000"/>
                </a:solidFill>
                <a:latin typeface="Arial" panose="020B0604020202020204" pitchFamily="34" charset="0"/>
                <a:cs typeface="Arial" panose="020B0604020202020204" pitchFamily="34" charset="0"/>
              </a:rPr>
              <a:t>  =</a:t>
            </a:r>
            <a:r>
              <a:rPr lang="en-US" altLang="zh-TW" sz="1800" i="1" dirty="0">
                <a:solidFill>
                  <a:srgbClr val="FF0000"/>
                </a:solidFill>
                <a:latin typeface="Arial" panose="020B0604020202020204" pitchFamily="34" charset="0"/>
                <a:cs typeface="Arial" panose="020B0604020202020204" pitchFamily="34" charset="0"/>
                <a:sym typeface="Symbol" panose="05050102010706020507" pitchFamily="18" charset="2"/>
              </a:rPr>
              <a:t> </a:t>
            </a:r>
            <a:r>
              <a:rPr lang="en-US" altLang="zh-TW" sz="1800" dirty="0">
                <a:solidFill>
                  <a:srgbClr val="FF0000"/>
                </a:solidFill>
                <a:latin typeface="Arial" panose="020B0604020202020204" pitchFamily="34" charset="0"/>
                <a:cs typeface="Arial" panose="020B0604020202020204" pitchFamily="34" charset="0"/>
              </a:rPr>
              <a:t> + </a:t>
            </a:r>
            <a:r>
              <a:rPr lang="en-US" altLang="zh-TW" sz="1800" i="1" dirty="0">
                <a:solidFill>
                  <a:srgbClr val="FF0000"/>
                </a:solidFill>
                <a:latin typeface="Arial" panose="020B0604020202020204" pitchFamily="34" charset="0"/>
                <a:cs typeface="Arial" panose="020B0604020202020204" pitchFamily="34" charset="0"/>
                <a:sym typeface="Symbol" panose="05050102010706020507" pitchFamily="18" charset="2"/>
              </a:rPr>
              <a:t></a:t>
            </a:r>
            <a:r>
              <a:rPr lang="en-US" altLang="zh-TW" sz="1800" i="1" dirty="0">
                <a:solidFill>
                  <a:srgbClr val="FF0000"/>
                </a:solidFill>
                <a:latin typeface="Arial" panose="020B0604020202020204" pitchFamily="34" charset="0"/>
                <a:cs typeface="Arial" panose="020B0604020202020204" pitchFamily="34" charset="0"/>
              </a:rPr>
              <a:t> </a:t>
            </a:r>
            <a:r>
              <a:rPr lang="en-US" altLang="zh-TW" sz="1800" dirty="0">
                <a:solidFill>
                  <a:srgbClr val="FF0000"/>
                </a:solidFill>
                <a:latin typeface="Arial" panose="020B0604020202020204" pitchFamily="34" charset="0"/>
                <a:cs typeface="Arial" panose="020B0604020202020204" pitchFamily="34" charset="0"/>
              </a:rPr>
              <a:t>X </a:t>
            </a:r>
            <a:endParaRPr lang="zh-TW" altLang="en-US" dirty="0">
              <a:solidFill>
                <a:srgbClr val="FF0000"/>
              </a:solidFill>
            </a:endParaRPr>
          </a:p>
        </p:txBody>
      </p:sp>
    </p:spTree>
    <p:extLst>
      <p:ext uri="{BB962C8B-B14F-4D97-AF65-F5344CB8AC3E}">
        <p14:creationId xmlns:p14="http://schemas.microsoft.com/office/powerpoint/2010/main" val="30842575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6" name="Rectangle 2"/>
          <p:cNvSpPr>
            <a:spLocks noGrp="1" noChangeArrowheads="1"/>
          </p:cNvSpPr>
          <p:nvPr>
            <p:ph type="body" idx="1"/>
          </p:nvPr>
        </p:nvSpPr>
        <p:spPr>
          <a:xfrm>
            <a:off x="467544" y="457200"/>
            <a:ext cx="8424936" cy="6140152"/>
          </a:xfrm>
          <a:noFill/>
          <a:ln/>
        </p:spPr>
        <p:txBody>
          <a:bodyPr lIns="92075" tIns="46038" rIns="92075" bIns="46038">
            <a:normAutofit/>
          </a:bodyPr>
          <a:lstStyle/>
          <a:p>
            <a:pPr>
              <a:buFont typeface="Wingdings" panose="05000000000000000000" pitchFamily="2" charset="2"/>
              <a:buChar char="§"/>
            </a:pPr>
            <a:r>
              <a:rPr lang="en-US" altLang="zh-TW" sz="3600" dirty="0">
                <a:latin typeface="Arial" panose="020B0604020202020204" pitchFamily="34" charset="0"/>
                <a:ea typeface="新細明體" panose="02020500000000000000" pitchFamily="18" charset="-120"/>
                <a:cs typeface="Arial" panose="020B0604020202020204" pitchFamily="34" charset="0"/>
              </a:rPr>
              <a:t>An interpretation of the logit coefficient which is usually more intuitive is the "odds of the event"</a:t>
            </a:r>
          </a:p>
          <a:p>
            <a:pPr>
              <a:buFont typeface="Wingdings" panose="05000000000000000000" pitchFamily="2" charset="2"/>
              <a:buChar char="§"/>
            </a:pPr>
            <a:r>
              <a:rPr lang="en-US" altLang="zh-TW" dirty="0">
                <a:latin typeface="Arial" panose="020B0604020202020204" pitchFamily="34" charset="0"/>
                <a:ea typeface="新細明體" panose="02020500000000000000" pitchFamily="18" charset="-120"/>
                <a:cs typeface="Arial" panose="020B0604020202020204" pitchFamily="34" charset="0"/>
              </a:rPr>
              <a:t>Since: odds (</a:t>
            </a:r>
            <a:r>
              <a:rPr lang="zh-TW" altLang="en-US" dirty="0">
                <a:latin typeface="Arial" panose="020B0604020202020204" pitchFamily="34" charset="0"/>
                <a:ea typeface="新細明體" panose="02020500000000000000" pitchFamily="18" charset="-120"/>
                <a:cs typeface="Arial" panose="020B0604020202020204" pitchFamily="34" charset="0"/>
              </a:rPr>
              <a:t>勝算</a:t>
            </a:r>
            <a:r>
              <a:rPr lang="en-US" altLang="zh-TW" dirty="0">
                <a:latin typeface="Arial" panose="020B0604020202020204" pitchFamily="34" charset="0"/>
                <a:ea typeface="新細明體" panose="02020500000000000000" pitchFamily="18" charset="-120"/>
                <a:cs typeface="Arial" panose="020B0604020202020204" pitchFamily="34" charset="0"/>
              </a:rPr>
              <a:t>)</a:t>
            </a:r>
            <a:br>
              <a:rPr lang="en-US" altLang="zh-TW" dirty="0">
                <a:latin typeface="Arial" panose="020B0604020202020204" pitchFamily="34" charset="0"/>
                <a:ea typeface="新細明體" panose="02020500000000000000" pitchFamily="18" charset="-120"/>
                <a:cs typeface="Arial" panose="020B0604020202020204" pitchFamily="34" charset="0"/>
              </a:rPr>
            </a:br>
            <a:br>
              <a:rPr lang="en-US" altLang="zh-TW" dirty="0">
                <a:latin typeface="Arial" panose="020B0604020202020204" pitchFamily="34" charset="0"/>
                <a:ea typeface="新細明體" panose="02020500000000000000" pitchFamily="18" charset="-120"/>
                <a:cs typeface="Arial" panose="020B0604020202020204" pitchFamily="34" charset="0"/>
              </a:rPr>
            </a:br>
            <a:r>
              <a:rPr lang="en-US" altLang="zh-TW" dirty="0">
                <a:latin typeface="Arial" panose="020B0604020202020204" pitchFamily="34" charset="0"/>
                <a:ea typeface="新細明體" panose="02020500000000000000" pitchFamily="18" charset="-120"/>
                <a:cs typeface="Arial" panose="020B0604020202020204" pitchFamily="34" charset="0"/>
              </a:rPr>
              <a:t> [p/(1-p)] = e</a:t>
            </a:r>
            <a:r>
              <a:rPr lang="en-US" altLang="zh-TW" baseline="30000" dirty="0">
                <a:latin typeface="Arial" panose="020B0604020202020204" pitchFamily="34" charset="0"/>
                <a:ea typeface="新細明體" panose="02020500000000000000" pitchFamily="18" charset="-120"/>
                <a:cs typeface="Arial" panose="020B0604020202020204" pitchFamily="34" charset="0"/>
              </a:rPr>
              <a:t>(</a:t>
            </a:r>
            <a:r>
              <a:rPr lang="en-US" altLang="zh-TW" i="1" baseline="30000" dirty="0">
                <a:latin typeface="Arial" panose="020B0604020202020204" pitchFamily="34" charset="0"/>
                <a:ea typeface="新細明體" panose="02020500000000000000" pitchFamily="18" charset="-120"/>
                <a:cs typeface="Arial" panose="020B0604020202020204" pitchFamily="34" charset="0"/>
                <a:sym typeface="Symbol" panose="05050102010706020507" pitchFamily="18" charset="2"/>
              </a:rPr>
              <a:t> + </a:t>
            </a:r>
            <a:r>
              <a:rPr lang="en-US" altLang="zh-TW" i="1" baseline="30000" dirty="0">
                <a:latin typeface="Arial" panose="020B0604020202020204" pitchFamily="34" charset="0"/>
                <a:ea typeface="新細明體" panose="02020500000000000000" pitchFamily="18" charset="-120"/>
                <a:cs typeface="Arial" panose="020B0604020202020204" pitchFamily="34" charset="0"/>
              </a:rPr>
              <a:t>X</a:t>
            </a:r>
            <a:r>
              <a:rPr lang="en-US" altLang="zh-TW" baseline="30000" dirty="0">
                <a:latin typeface="Arial" panose="020B0604020202020204" pitchFamily="34" charset="0"/>
                <a:ea typeface="新細明體" panose="02020500000000000000" pitchFamily="18" charset="-120"/>
                <a:cs typeface="Arial" panose="020B0604020202020204" pitchFamily="34" charset="0"/>
              </a:rPr>
              <a:t>)</a:t>
            </a:r>
          </a:p>
          <a:p>
            <a:pPr>
              <a:buFont typeface="Wingdings" panose="05000000000000000000" pitchFamily="2" charset="2"/>
              <a:buChar char="§"/>
            </a:pPr>
            <a:endParaRPr lang="en-US" altLang="zh-TW" dirty="0">
              <a:latin typeface="Arial" panose="020B0604020202020204" pitchFamily="34" charset="0"/>
              <a:ea typeface="新細明體" panose="02020500000000000000" pitchFamily="18" charset="-120"/>
              <a:cs typeface="Arial" panose="020B0604020202020204" pitchFamily="34" charset="0"/>
            </a:endParaRPr>
          </a:p>
          <a:p>
            <a:pPr>
              <a:buFont typeface="Wingdings" panose="05000000000000000000" pitchFamily="2" charset="2"/>
              <a:buChar char="§"/>
            </a:pPr>
            <a:r>
              <a:rPr lang="en-US" altLang="zh-TW" dirty="0">
                <a:latin typeface="Arial" panose="020B0604020202020204" pitchFamily="34" charset="0"/>
                <a:ea typeface="新細明體" panose="02020500000000000000" pitchFamily="18" charset="-120"/>
                <a:cs typeface="Arial" panose="020B0604020202020204" pitchFamily="34" charset="0"/>
              </a:rPr>
              <a:t>ln(</a:t>
            </a:r>
            <a:r>
              <a:rPr lang="en-US" altLang="zh-TW" dirty="0">
                <a:latin typeface="Arial" panose="020B0604020202020204" pitchFamily="34" charset="0"/>
                <a:cs typeface="Arial" panose="020B0604020202020204" pitchFamily="34" charset="0"/>
              </a:rPr>
              <a:t>[p/(1-p)] = ln(e</a:t>
            </a:r>
            <a:r>
              <a:rPr lang="en-US" altLang="zh-TW" baseline="30000" dirty="0">
                <a:latin typeface="Arial" panose="020B0604020202020204" pitchFamily="34" charset="0"/>
                <a:cs typeface="Arial" panose="020B0604020202020204" pitchFamily="34" charset="0"/>
              </a:rPr>
              <a:t>(</a:t>
            </a:r>
            <a:r>
              <a:rPr lang="en-US" altLang="zh-TW" i="1" baseline="30000" dirty="0">
                <a:latin typeface="Arial" panose="020B0604020202020204" pitchFamily="34" charset="0"/>
                <a:cs typeface="Arial" panose="020B0604020202020204" pitchFamily="34" charset="0"/>
                <a:sym typeface="Symbol" panose="05050102010706020507" pitchFamily="18" charset="2"/>
              </a:rPr>
              <a:t> + </a:t>
            </a:r>
            <a:r>
              <a:rPr lang="en-US" altLang="zh-TW" i="1" baseline="30000" dirty="0">
                <a:latin typeface="Arial" panose="020B0604020202020204" pitchFamily="34" charset="0"/>
                <a:cs typeface="Arial" panose="020B0604020202020204" pitchFamily="34" charset="0"/>
              </a:rPr>
              <a:t>X</a:t>
            </a:r>
            <a:r>
              <a:rPr lang="en-US" altLang="zh-TW" baseline="30000" dirty="0">
                <a:latin typeface="Arial" panose="020B0604020202020204" pitchFamily="34" charset="0"/>
                <a:cs typeface="Arial" panose="020B0604020202020204" pitchFamily="34" charset="0"/>
              </a:rPr>
              <a:t>)</a:t>
            </a:r>
            <a:r>
              <a:rPr lang="en-US" altLang="zh-TW" dirty="0">
                <a:latin typeface="Arial" panose="020B0604020202020204" pitchFamily="34" charset="0"/>
                <a:cs typeface="Arial" panose="020B0604020202020204" pitchFamily="34" charset="0"/>
              </a:rPr>
              <a:t>) =</a:t>
            </a:r>
            <a:r>
              <a:rPr lang="en-US" altLang="zh-TW" i="1" dirty="0">
                <a:latin typeface="Arial" panose="020B0604020202020204" pitchFamily="34" charset="0"/>
                <a:cs typeface="Arial" panose="020B0604020202020204" pitchFamily="34" charset="0"/>
                <a:sym typeface="Symbol" panose="05050102010706020507" pitchFamily="18" charset="2"/>
              </a:rPr>
              <a:t>  + </a:t>
            </a:r>
            <a:r>
              <a:rPr lang="en-US" altLang="zh-TW" i="1" dirty="0">
                <a:latin typeface="Arial" panose="020B0604020202020204" pitchFamily="34" charset="0"/>
                <a:cs typeface="Arial" panose="020B0604020202020204" pitchFamily="34" charset="0"/>
              </a:rPr>
              <a:t>X</a:t>
            </a:r>
            <a:endParaRPr lang="en-US" altLang="zh-TW" dirty="0">
              <a:latin typeface="Arial" panose="020B0604020202020204" pitchFamily="34" charset="0"/>
              <a:cs typeface="Arial" panose="020B0604020202020204" pitchFamily="34" charset="0"/>
            </a:endParaRPr>
          </a:p>
          <a:p>
            <a:pPr marL="0" indent="0">
              <a:buNone/>
            </a:pPr>
            <a:br>
              <a:rPr lang="en-US" altLang="zh-TW" dirty="0">
                <a:latin typeface="Arial" panose="020B0604020202020204" pitchFamily="34" charset="0"/>
                <a:ea typeface="新細明體" panose="02020500000000000000" pitchFamily="18" charset="-120"/>
                <a:cs typeface="Arial" panose="020B0604020202020204" pitchFamily="34" charset="0"/>
              </a:rPr>
            </a:br>
            <a:r>
              <a:rPr lang="en-US" altLang="zh-TW" dirty="0">
                <a:latin typeface="Arial" panose="020B0604020202020204" pitchFamily="34" charset="0"/>
                <a:ea typeface="新細明體" panose="02020500000000000000" pitchFamily="18" charset="-120"/>
                <a:cs typeface="Arial" panose="020B0604020202020204" pitchFamily="34" charset="0"/>
              </a:rPr>
              <a:t> </a:t>
            </a:r>
            <a:r>
              <a:rPr lang="en-US" altLang="zh-TW" sz="2800" dirty="0">
                <a:latin typeface="Arial" panose="020B0604020202020204" pitchFamily="34" charset="0"/>
                <a:ea typeface="新細明體" panose="02020500000000000000" pitchFamily="18" charset="-120"/>
                <a:cs typeface="Arial" panose="020B0604020202020204" pitchFamily="34" charset="0"/>
              </a:rPr>
              <a:t> </a:t>
            </a:r>
            <a:r>
              <a:rPr lang="en-US" altLang="zh-TW" sz="2800" i="1" dirty="0">
                <a:latin typeface="Arial" panose="020B0604020202020204" pitchFamily="34" charset="0"/>
                <a:cs typeface="Arial" panose="020B0604020202020204" pitchFamily="34" charset="0"/>
                <a:sym typeface="Symbol" panose="05050102010706020507" pitchFamily="18" charset="2"/>
              </a:rPr>
              <a:t>  </a:t>
            </a:r>
            <a:r>
              <a:rPr lang="en-US" altLang="zh-TW" sz="2800" dirty="0">
                <a:latin typeface="Arial" panose="020B0604020202020204" pitchFamily="34" charset="0"/>
                <a:ea typeface="新細明體" panose="02020500000000000000" pitchFamily="18" charset="-120"/>
                <a:cs typeface="Arial" panose="020B0604020202020204" pitchFamily="34" charset="0"/>
              </a:rPr>
              <a:t>increment implies the change of odds of event  </a:t>
            </a:r>
          </a:p>
          <a:p>
            <a:pPr>
              <a:buFont typeface="Wingdings" panose="05000000000000000000" pitchFamily="2" charset="2"/>
              <a:buNone/>
            </a:pPr>
            <a:r>
              <a:rPr lang="en-US" altLang="zh-TW" sz="2800" dirty="0">
                <a:latin typeface="Arial" panose="020B0604020202020204" pitchFamily="34" charset="0"/>
                <a:ea typeface="新細明體" panose="02020500000000000000" pitchFamily="18" charset="-120"/>
                <a:cs typeface="Arial" panose="020B0604020202020204" pitchFamily="34" charset="0"/>
              </a:rPr>
              <a:t>	</a:t>
            </a:r>
            <a:r>
              <a:rPr lang="en-US" altLang="zh-TW" sz="2800" dirty="0">
                <a:latin typeface="Arial" panose="020B0604020202020204" pitchFamily="34" charset="0"/>
                <a:ea typeface="新細明體" panose="02020500000000000000" pitchFamily="18" charset="-120"/>
                <a:cs typeface="Arial" panose="020B0604020202020204" pitchFamily="34" charset="0"/>
                <a:sym typeface="Wingdings" panose="05000000000000000000" pitchFamily="2" charset="2"/>
              </a:rPr>
              <a:t> using </a:t>
            </a:r>
            <a:r>
              <a:rPr lang="en-US" altLang="zh-TW" sz="2800" dirty="0">
                <a:latin typeface="Arial" panose="020B0604020202020204" pitchFamily="34" charset="0"/>
                <a:ea typeface="新細明體" panose="02020500000000000000" pitchFamily="18" charset="-120"/>
                <a:cs typeface="Arial" panose="020B0604020202020204" pitchFamily="34" charset="0"/>
              </a:rPr>
              <a:t>exp(</a:t>
            </a:r>
            <a:r>
              <a:rPr lang="en-US" altLang="zh-TW" sz="2800" i="1" dirty="0">
                <a:latin typeface="Arial" panose="020B0604020202020204" pitchFamily="34" charset="0"/>
                <a:ea typeface="新細明體" panose="02020500000000000000" pitchFamily="18" charset="-120"/>
                <a:cs typeface="Arial" panose="020B0604020202020204" pitchFamily="34" charset="0"/>
                <a:sym typeface="Symbol" panose="05050102010706020507" pitchFamily="18" charset="2"/>
              </a:rPr>
              <a:t></a:t>
            </a:r>
            <a:r>
              <a:rPr lang="en-US" altLang="zh-TW" sz="2800" dirty="0">
                <a:latin typeface="Arial" panose="020B0604020202020204" pitchFamily="34" charset="0"/>
                <a:ea typeface="新細明體" panose="02020500000000000000" pitchFamily="18" charset="-120"/>
                <a:cs typeface="Arial" panose="020B0604020202020204" pitchFamily="34" charset="0"/>
              </a:rPr>
              <a:t>) instead of </a:t>
            </a:r>
            <a:r>
              <a:rPr lang="en-US" altLang="zh-TW" sz="2800" i="1" dirty="0">
                <a:latin typeface="Arial" panose="020B0604020202020204" pitchFamily="34" charset="0"/>
                <a:cs typeface="Arial" panose="020B0604020202020204" pitchFamily="34" charset="0"/>
                <a:sym typeface="Symbol" panose="05050102010706020507" pitchFamily="18" charset="2"/>
              </a:rPr>
              <a:t></a:t>
            </a:r>
            <a:r>
              <a:rPr lang="en-US" altLang="zh-TW" sz="2800" dirty="0">
                <a:latin typeface="Arial" panose="020B0604020202020204" pitchFamily="34" charset="0"/>
                <a:ea typeface="新細明體" panose="02020500000000000000" pitchFamily="18" charset="-120"/>
                <a:cs typeface="Arial" panose="020B0604020202020204" pitchFamily="34" charset="0"/>
              </a:rPr>
              <a:t> to describe the effect of the independent variable on the "odds of event"</a:t>
            </a:r>
          </a:p>
        </p:txBody>
      </p:sp>
    </p:spTree>
    <p:extLst>
      <p:ext uri="{BB962C8B-B14F-4D97-AF65-F5344CB8AC3E}">
        <p14:creationId xmlns:p14="http://schemas.microsoft.com/office/powerpoint/2010/main" val="147062909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1266">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126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126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1266">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1126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6" grpId="0" build="p"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88E763B-84D9-41CC-90B5-860B9D72BF5F}"/>
              </a:ext>
            </a:extLst>
          </p:cNvPr>
          <p:cNvSpPr>
            <a:spLocks noGrp="1"/>
          </p:cNvSpPr>
          <p:nvPr>
            <p:ph type="title"/>
          </p:nvPr>
        </p:nvSpPr>
        <p:spPr/>
        <p:txBody>
          <a:bodyPr>
            <a:normAutofit/>
          </a:bodyPr>
          <a:lstStyle/>
          <a:p>
            <a:r>
              <a:rPr lang="en-US" altLang="zh-TW" b="1" i="0" dirty="0">
                <a:solidFill>
                  <a:srgbClr val="202124"/>
                </a:solidFill>
                <a:effectLst/>
                <a:latin typeface="zeitung"/>
              </a:rPr>
              <a:t>Multi-class Logistic Regression</a:t>
            </a:r>
            <a:endParaRPr lang="zh-TW" altLang="en-US" dirty="0"/>
          </a:p>
        </p:txBody>
      </p:sp>
      <p:sp>
        <p:nvSpPr>
          <p:cNvPr id="3" name="內容版面配置區 2">
            <a:extLst>
              <a:ext uri="{FF2B5EF4-FFF2-40B4-BE49-F238E27FC236}">
                <a16:creationId xmlns:a16="http://schemas.microsoft.com/office/drawing/2014/main" id="{926D4597-EBA4-4489-95B7-EDA3C3B4952D}"/>
              </a:ext>
            </a:extLst>
          </p:cNvPr>
          <p:cNvSpPr>
            <a:spLocks noGrp="1"/>
          </p:cNvSpPr>
          <p:nvPr>
            <p:ph sz="quarter" idx="1"/>
          </p:nvPr>
        </p:nvSpPr>
        <p:spPr>
          <a:xfrm>
            <a:off x="462372" y="1556792"/>
            <a:ext cx="8219256" cy="5077544"/>
          </a:xfrm>
        </p:spPr>
        <p:txBody>
          <a:bodyPr>
            <a:normAutofit fontScale="70000" lnSpcReduction="20000"/>
          </a:bodyPr>
          <a:lstStyle/>
          <a:p>
            <a:r>
              <a:rPr lang="en-US" altLang="zh-TW" dirty="0"/>
              <a:t>We have already learned about logistic regression for binary logistic regression as the target variable (i.e. bought product) in customer income data has two classes 1 (bought product) and 0 (didn't buy product). Here, we will to discuss about multi - class logistic regression.</a:t>
            </a:r>
          </a:p>
          <a:p>
            <a:endParaRPr lang="en-US" altLang="zh-TW" dirty="0"/>
          </a:p>
          <a:p>
            <a:r>
              <a:rPr lang="en-US" altLang="zh-TW" dirty="0"/>
              <a:t>Multi - class Logistic Regression: Here the target variable has more than two possible classes/categories. For example, salary of an employee can be categorized as 'low', 'medium' and 'high'. There are two types of </a:t>
            </a:r>
            <a:r>
              <a:rPr lang="en-US" altLang="zh-TW" b="1" dirty="0"/>
              <a:t>multi - class logistic regression</a:t>
            </a:r>
            <a:r>
              <a:rPr lang="en-US" altLang="zh-TW" dirty="0"/>
              <a:t>:</a:t>
            </a:r>
          </a:p>
          <a:p>
            <a:endParaRPr lang="en-US" altLang="zh-TW" dirty="0"/>
          </a:p>
          <a:p>
            <a:r>
              <a:rPr lang="en-US" altLang="zh-TW" b="1" dirty="0"/>
              <a:t>Multinomial Logistic Regression</a:t>
            </a:r>
            <a:r>
              <a:rPr lang="en-US" altLang="zh-TW" dirty="0"/>
              <a:t>: The </a:t>
            </a:r>
            <a:r>
              <a:rPr lang="en-US" altLang="zh-TW" b="1" dirty="0"/>
              <a:t>target variable </a:t>
            </a:r>
            <a:r>
              <a:rPr lang="en-US" altLang="zh-TW" dirty="0"/>
              <a:t>has </a:t>
            </a:r>
            <a:r>
              <a:rPr lang="en-US" altLang="zh-TW" b="1" dirty="0"/>
              <a:t>three or more classes/categories </a:t>
            </a:r>
            <a:r>
              <a:rPr lang="en-US" altLang="zh-TW" dirty="0"/>
              <a:t>which are not in any particular order. So, there are three or more nominal categories. Examples: Fruits (apple, mango, orange and banana), Profession (e.g., with five groups: surgeon, doctor, nurse, dentist, therapist)</a:t>
            </a:r>
          </a:p>
          <a:p>
            <a:endParaRPr lang="en-US" altLang="zh-TW" dirty="0"/>
          </a:p>
          <a:p>
            <a:r>
              <a:rPr lang="en-US" altLang="zh-TW" b="1" dirty="0"/>
              <a:t>Ordinal Logistic Regression</a:t>
            </a:r>
            <a:r>
              <a:rPr lang="en-US" altLang="zh-TW" dirty="0"/>
              <a:t>: The </a:t>
            </a:r>
            <a:r>
              <a:rPr lang="en-US" altLang="zh-TW" b="1" dirty="0"/>
              <a:t>target variable </a:t>
            </a:r>
            <a:r>
              <a:rPr lang="en-US" altLang="zh-TW" dirty="0"/>
              <a:t>has </a:t>
            </a:r>
            <a:r>
              <a:rPr lang="en-US" altLang="zh-TW" b="1" dirty="0"/>
              <a:t>three or more ordinal categories</a:t>
            </a:r>
            <a:r>
              <a:rPr lang="en-US" altLang="zh-TW" dirty="0"/>
              <a:t>. So, there is intrinsic order involved with the categories. For example, the student performance can be categorized as poor, average, good and excellent, the salary of an employee can be categorized as 'low', 'medium' and 'high'</a:t>
            </a:r>
            <a:endParaRPr lang="zh-TW" altLang="en-US" dirty="0"/>
          </a:p>
        </p:txBody>
      </p:sp>
    </p:spTree>
    <p:extLst>
      <p:ext uri="{BB962C8B-B14F-4D97-AF65-F5344CB8AC3E}">
        <p14:creationId xmlns:p14="http://schemas.microsoft.com/office/powerpoint/2010/main" val="6340612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759AA95F-C547-404C-9588-88F24F5FF542}"/>
              </a:ext>
            </a:extLst>
          </p:cNvPr>
          <p:cNvSpPr>
            <a:spLocks noGrp="1"/>
          </p:cNvSpPr>
          <p:nvPr>
            <p:ph sz="quarter" idx="1"/>
          </p:nvPr>
        </p:nvSpPr>
        <p:spPr>
          <a:xfrm>
            <a:off x="538876" y="548680"/>
            <a:ext cx="8209587" cy="4751040"/>
          </a:xfrm>
        </p:spPr>
        <p:txBody>
          <a:bodyPr/>
          <a:lstStyle/>
          <a:p>
            <a:r>
              <a:rPr lang="en-US" altLang="zh-TW" dirty="0"/>
              <a:t>The multinomial logistic classifier uses a generalization of the sigmoid, called the </a:t>
            </a:r>
            <a:r>
              <a:rPr lang="en-US" altLang="zh-TW" dirty="0" err="1"/>
              <a:t>softmax</a:t>
            </a:r>
            <a:r>
              <a:rPr lang="en-US" altLang="zh-TW" dirty="0"/>
              <a:t> function</a:t>
            </a:r>
            <a:endParaRPr lang="zh-TW" altLang="en-US" dirty="0"/>
          </a:p>
        </p:txBody>
      </p:sp>
      <p:pic>
        <p:nvPicPr>
          <p:cNvPr id="5" name="圖片 4">
            <a:extLst>
              <a:ext uri="{FF2B5EF4-FFF2-40B4-BE49-F238E27FC236}">
                <a16:creationId xmlns:a16="http://schemas.microsoft.com/office/drawing/2014/main" id="{B61E190B-C33F-4B67-862D-005649F83FA1}"/>
              </a:ext>
            </a:extLst>
          </p:cNvPr>
          <p:cNvPicPr>
            <a:picLocks noChangeAspect="1"/>
          </p:cNvPicPr>
          <p:nvPr/>
        </p:nvPicPr>
        <p:blipFill>
          <a:blip r:embed="rId2"/>
          <a:stretch>
            <a:fillRect/>
          </a:stretch>
        </p:blipFill>
        <p:spPr>
          <a:xfrm>
            <a:off x="683568" y="2419217"/>
            <a:ext cx="7164288" cy="3996672"/>
          </a:xfrm>
          <a:prstGeom prst="rect">
            <a:avLst/>
          </a:prstGeom>
        </p:spPr>
      </p:pic>
      <p:grpSp>
        <p:nvGrpSpPr>
          <p:cNvPr id="15" name="群組 14">
            <a:extLst>
              <a:ext uri="{FF2B5EF4-FFF2-40B4-BE49-F238E27FC236}">
                <a16:creationId xmlns:a16="http://schemas.microsoft.com/office/drawing/2014/main" id="{E7A2EA37-2F54-4043-BA51-638C9FCD7C1C}"/>
              </a:ext>
            </a:extLst>
          </p:cNvPr>
          <p:cNvGrpSpPr/>
          <p:nvPr/>
        </p:nvGrpSpPr>
        <p:grpSpPr>
          <a:xfrm>
            <a:off x="755576" y="1700808"/>
            <a:ext cx="7164288" cy="563077"/>
            <a:chOff x="755576" y="1700808"/>
            <a:chExt cx="7164288" cy="563077"/>
          </a:xfrm>
        </p:grpSpPr>
        <p:grpSp>
          <p:nvGrpSpPr>
            <p:cNvPr id="10" name="群組 9">
              <a:extLst>
                <a:ext uri="{FF2B5EF4-FFF2-40B4-BE49-F238E27FC236}">
                  <a16:creationId xmlns:a16="http://schemas.microsoft.com/office/drawing/2014/main" id="{18D4E31F-4959-46C1-B17E-E96076002E14}"/>
                </a:ext>
              </a:extLst>
            </p:cNvPr>
            <p:cNvGrpSpPr/>
            <p:nvPr/>
          </p:nvGrpSpPr>
          <p:grpSpPr>
            <a:xfrm>
              <a:off x="755576" y="1700808"/>
              <a:ext cx="7164288" cy="559438"/>
              <a:chOff x="683568" y="2076055"/>
              <a:chExt cx="7164288" cy="559438"/>
            </a:xfrm>
          </p:grpSpPr>
          <p:pic>
            <p:nvPicPr>
              <p:cNvPr id="7" name="圖片 6">
                <a:extLst>
                  <a:ext uri="{FF2B5EF4-FFF2-40B4-BE49-F238E27FC236}">
                    <a16:creationId xmlns:a16="http://schemas.microsoft.com/office/drawing/2014/main" id="{4A609DCC-3664-41D8-8F70-18B3FBE94449}"/>
                  </a:ext>
                </a:extLst>
              </p:cNvPr>
              <p:cNvPicPr>
                <a:picLocks noChangeAspect="1"/>
              </p:cNvPicPr>
              <p:nvPr/>
            </p:nvPicPr>
            <p:blipFill>
              <a:blip r:embed="rId3"/>
              <a:stretch>
                <a:fillRect/>
              </a:stretch>
            </p:blipFill>
            <p:spPr>
              <a:xfrm>
                <a:off x="683568" y="2076055"/>
                <a:ext cx="7164288" cy="350102"/>
              </a:xfrm>
              <a:prstGeom prst="rect">
                <a:avLst/>
              </a:prstGeom>
            </p:spPr>
          </p:pic>
          <p:pic>
            <p:nvPicPr>
              <p:cNvPr id="9" name="圖片 8">
                <a:extLst>
                  <a:ext uri="{FF2B5EF4-FFF2-40B4-BE49-F238E27FC236}">
                    <a16:creationId xmlns:a16="http://schemas.microsoft.com/office/drawing/2014/main" id="{5EF8ED8B-6CC8-40BC-ADDC-2C55E2948208}"/>
                  </a:ext>
                </a:extLst>
              </p:cNvPr>
              <p:cNvPicPr>
                <a:picLocks noChangeAspect="1"/>
              </p:cNvPicPr>
              <p:nvPr/>
            </p:nvPicPr>
            <p:blipFill>
              <a:blip r:embed="rId4"/>
              <a:stretch>
                <a:fillRect/>
              </a:stretch>
            </p:blipFill>
            <p:spPr>
              <a:xfrm>
                <a:off x="718044" y="2426157"/>
                <a:ext cx="3918770" cy="209336"/>
              </a:xfrm>
              <a:prstGeom prst="rect">
                <a:avLst/>
              </a:prstGeom>
            </p:spPr>
          </p:pic>
        </p:grpSp>
        <p:pic>
          <p:nvPicPr>
            <p:cNvPr id="14" name="圖片 13">
              <a:extLst>
                <a:ext uri="{FF2B5EF4-FFF2-40B4-BE49-F238E27FC236}">
                  <a16:creationId xmlns:a16="http://schemas.microsoft.com/office/drawing/2014/main" id="{CD999A08-E4BB-4C58-94B0-33D78CBCCA15}"/>
                </a:ext>
              </a:extLst>
            </p:cNvPr>
            <p:cNvPicPr>
              <a:picLocks noChangeAspect="1"/>
            </p:cNvPicPr>
            <p:nvPr/>
          </p:nvPicPr>
          <p:blipFill>
            <a:blip r:embed="rId5"/>
            <a:stretch>
              <a:fillRect/>
            </a:stretch>
          </p:blipFill>
          <p:spPr>
            <a:xfrm>
              <a:off x="4743298" y="2027537"/>
              <a:ext cx="2781030" cy="236348"/>
            </a:xfrm>
            <a:prstGeom prst="rect">
              <a:avLst/>
            </a:prstGeom>
          </p:spPr>
        </p:pic>
      </p:grpSp>
    </p:spTree>
    <p:extLst>
      <p:ext uri="{BB962C8B-B14F-4D97-AF65-F5344CB8AC3E}">
        <p14:creationId xmlns:p14="http://schemas.microsoft.com/office/powerpoint/2010/main" val="13618350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a:extLst>
              <a:ext uri="{FF2B5EF4-FFF2-40B4-BE49-F238E27FC236}">
                <a16:creationId xmlns:a16="http://schemas.microsoft.com/office/drawing/2014/main" id="{69C033FF-CC5A-4DBC-B3A7-82B656E8210C}"/>
              </a:ext>
            </a:extLst>
          </p:cNvPr>
          <p:cNvPicPr>
            <a:picLocks noChangeAspect="1"/>
          </p:cNvPicPr>
          <p:nvPr/>
        </p:nvPicPr>
        <p:blipFill>
          <a:blip r:embed="rId2"/>
          <a:stretch>
            <a:fillRect/>
          </a:stretch>
        </p:blipFill>
        <p:spPr>
          <a:xfrm>
            <a:off x="899592" y="836712"/>
            <a:ext cx="7632848" cy="2774833"/>
          </a:xfrm>
          <a:prstGeom prst="rect">
            <a:avLst/>
          </a:prstGeom>
        </p:spPr>
      </p:pic>
      <p:pic>
        <p:nvPicPr>
          <p:cNvPr id="7" name="圖片 6">
            <a:extLst>
              <a:ext uri="{FF2B5EF4-FFF2-40B4-BE49-F238E27FC236}">
                <a16:creationId xmlns:a16="http://schemas.microsoft.com/office/drawing/2014/main" id="{F8FA7906-2DF1-4FA4-85A2-06A2CC172DE5}"/>
              </a:ext>
            </a:extLst>
          </p:cNvPr>
          <p:cNvPicPr>
            <a:picLocks noChangeAspect="1"/>
          </p:cNvPicPr>
          <p:nvPr/>
        </p:nvPicPr>
        <p:blipFill>
          <a:blip r:embed="rId3"/>
          <a:stretch>
            <a:fillRect/>
          </a:stretch>
        </p:blipFill>
        <p:spPr>
          <a:xfrm>
            <a:off x="899592" y="3861048"/>
            <a:ext cx="7481183" cy="1905687"/>
          </a:xfrm>
          <a:prstGeom prst="rect">
            <a:avLst/>
          </a:prstGeom>
        </p:spPr>
      </p:pic>
    </p:spTree>
    <p:extLst>
      <p:ext uri="{BB962C8B-B14F-4D97-AF65-F5344CB8AC3E}">
        <p14:creationId xmlns:p14="http://schemas.microsoft.com/office/powerpoint/2010/main" val="32037178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sz="quarter" idx="1"/>
          </p:nvPr>
        </p:nvSpPr>
        <p:spPr/>
        <p:txBody>
          <a:bodyPr/>
          <a:lstStyle/>
          <a:p>
            <a:endParaRPr lang="zh-TW" altLang="en-US"/>
          </a:p>
        </p:txBody>
      </p:sp>
      <p:pic>
        <p:nvPicPr>
          <p:cNvPr id="4" name="圖片 3"/>
          <p:cNvPicPr>
            <a:picLocks noChangeAspect="1"/>
          </p:cNvPicPr>
          <p:nvPr/>
        </p:nvPicPr>
        <p:blipFill>
          <a:blip r:embed="rId2"/>
          <a:stretch>
            <a:fillRect/>
          </a:stretch>
        </p:blipFill>
        <p:spPr>
          <a:xfrm>
            <a:off x="395536" y="1052736"/>
            <a:ext cx="8344521" cy="4385488"/>
          </a:xfrm>
          <a:prstGeom prst="rect">
            <a:avLst/>
          </a:prstGeom>
        </p:spPr>
      </p:pic>
      <p:sp>
        <p:nvSpPr>
          <p:cNvPr id="5" name="矩形 4">
            <a:extLst>
              <a:ext uri="{FF2B5EF4-FFF2-40B4-BE49-F238E27FC236}">
                <a16:creationId xmlns:a16="http://schemas.microsoft.com/office/drawing/2014/main" id="{928BFEDB-1319-4DAA-9C8F-BC641ABE2FF2}"/>
              </a:ext>
            </a:extLst>
          </p:cNvPr>
          <p:cNvSpPr/>
          <p:nvPr/>
        </p:nvSpPr>
        <p:spPr>
          <a:xfrm>
            <a:off x="4427984" y="3717032"/>
            <a:ext cx="2232248" cy="36004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文字方塊 6">
            <a:extLst>
              <a:ext uri="{FF2B5EF4-FFF2-40B4-BE49-F238E27FC236}">
                <a16:creationId xmlns:a16="http://schemas.microsoft.com/office/drawing/2014/main" id="{194EBD70-9571-4B5C-9BA7-56D784B7E18B}"/>
              </a:ext>
            </a:extLst>
          </p:cNvPr>
          <p:cNvSpPr txBox="1"/>
          <p:nvPr/>
        </p:nvSpPr>
        <p:spPr>
          <a:xfrm>
            <a:off x="570384" y="6023138"/>
            <a:ext cx="8460432" cy="646331"/>
          </a:xfrm>
          <a:prstGeom prst="rect">
            <a:avLst/>
          </a:prstGeom>
          <a:noFill/>
        </p:spPr>
        <p:txBody>
          <a:bodyPr wrap="square">
            <a:spAutoFit/>
          </a:bodyPr>
          <a:lstStyle/>
          <a:p>
            <a:r>
              <a:rPr lang="en-US" altLang="zh-TW" dirty="0"/>
              <a:t>NOTE:  </a:t>
            </a:r>
            <a:r>
              <a:rPr lang="zh-TW" altLang="en-US" dirty="0"/>
              <a:t>The </a:t>
            </a:r>
            <a:r>
              <a:rPr lang="zh-TW" altLang="en-US" dirty="0">
                <a:solidFill>
                  <a:srgbClr val="FF0000"/>
                </a:solidFill>
              </a:rPr>
              <a:t>LogisticRegression</a:t>
            </a:r>
            <a:r>
              <a:rPr lang="zh-TW" altLang="en-US" dirty="0"/>
              <a:t> class can be configured for </a:t>
            </a:r>
            <a:r>
              <a:rPr lang="zh-TW" altLang="en-US" b="1" dirty="0"/>
              <a:t>multinomial</a:t>
            </a:r>
            <a:r>
              <a:rPr lang="zh-TW" altLang="en-US" dirty="0"/>
              <a:t> logistic regression by setting the “</a:t>
            </a:r>
            <a:r>
              <a:rPr lang="zh-TW" altLang="en-US" dirty="0">
                <a:solidFill>
                  <a:srgbClr val="FF0000"/>
                </a:solidFill>
              </a:rPr>
              <a:t>multi_class” argument to “multinomial”</a:t>
            </a:r>
            <a:r>
              <a:rPr lang="zh-TW" altLang="en-US" dirty="0"/>
              <a:t>.</a:t>
            </a:r>
          </a:p>
        </p:txBody>
      </p:sp>
    </p:spTree>
    <p:extLst>
      <p:ext uri="{BB962C8B-B14F-4D97-AF65-F5344CB8AC3E}">
        <p14:creationId xmlns:p14="http://schemas.microsoft.com/office/powerpoint/2010/main" val="39104366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sz="quarter" idx="1"/>
          </p:nvPr>
        </p:nvSpPr>
        <p:spPr/>
        <p:txBody>
          <a:bodyPr/>
          <a:lstStyle/>
          <a:p>
            <a:endParaRPr lang="zh-TW" altLang="en-US"/>
          </a:p>
        </p:txBody>
      </p:sp>
      <p:pic>
        <p:nvPicPr>
          <p:cNvPr id="4" name="圖片 3"/>
          <p:cNvPicPr>
            <a:picLocks noChangeAspect="1"/>
          </p:cNvPicPr>
          <p:nvPr/>
        </p:nvPicPr>
        <p:blipFill>
          <a:blip r:embed="rId2"/>
          <a:stretch>
            <a:fillRect/>
          </a:stretch>
        </p:blipFill>
        <p:spPr>
          <a:xfrm>
            <a:off x="176361" y="692696"/>
            <a:ext cx="8967639" cy="5805104"/>
          </a:xfrm>
          <a:prstGeom prst="rect">
            <a:avLst/>
          </a:prstGeom>
        </p:spPr>
      </p:pic>
    </p:spTree>
    <p:extLst>
      <p:ext uri="{BB962C8B-B14F-4D97-AF65-F5344CB8AC3E}">
        <p14:creationId xmlns:p14="http://schemas.microsoft.com/office/powerpoint/2010/main" val="233092531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公正">
  <a:themeElements>
    <a:clrScheme name="公正">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公正">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公正">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43916</TotalTime>
  <Words>882</Words>
  <Application>Microsoft Office PowerPoint</Application>
  <PresentationFormat>如螢幕大小 (4:3)</PresentationFormat>
  <Paragraphs>54</Paragraphs>
  <Slides>17</Slides>
  <Notes>0</Notes>
  <HiddenSlides>0</HiddenSlides>
  <MMClips>0</MMClips>
  <ScaleCrop>false</ScaleCrop>
  <HeadingPairs>
    <vt:vector size="8" baseType="variant">
      <vt:variant>
        <vt:lpstr>使用字型</vt:lpstr>
      </vt:variant>
      <vt:variant>
        <vt:i4>9</vt:i4>
      </vt:variant>
      <vt:variant>
        <vt:lpstr>佈景主題</vt:lpstr>
      </vt:variant>
      <vt:variant>
        <vt:i4>1</vt:i4>
      </vt:variant>
      <vt:variant>
        <vt:lpstr>內嵌 OLE 伺服程式</vt:lpstr>
      </vt:variant>
      <vt:variant>
        <vt:i4>1</vt:i4>
      </vt:variant>
      <vt:variant>
        <vt:lpstr>投影片標題</vt:lpstr>
      </vt:variant>
      <vt:variant>
        <vt:i4>17</vt:i4>
      </vt:variant>
    </vt:vector>
  </HeadingPairs>
  <TitlesOfParts>
    <vt:vector size="28" baseType="lpstr">
      <vt:lpstr>Google Sans</vt:lpstr>
      <vt:lpstr>zeitung</vt:lpstr>
      <vt:lpstr>Arial</vt:lpstr>
      <vt:lpstr>Calibri</vt:lpstr>
      <vt:lpstr>Cambria Math</vt:lpstr>
      <vt:lpstr>Franklin Gothic Book</vt:lpstr>
      <vt:lpstr>Perpetua</vt:lpstr>
      <vt:lpstr>Wingdings</vt:lpstr>
      <vt:lpstr>Wingdings 2</vt:lpstr>
      <vt:lpstr>公正</vt:lpstr>
      <vt:lpstr>Photo House</vt:lpstr>
      <vt:lpstr>PowerPoint 簡報</vt:lpstr>
      <vt:lpstr>Correlations and Relationships</vt:lpstr>
      <vt:lpstr>PowerPoint 簡報</vt:lpstr>
      <vt:lpstr>PowerPoint 簡報</vt:lpstr>
      <vt:lpstr>PowerPoint 簡報</vt:lpstr>
      <vt:lpstr>Logistic Regression</vt:lpstr>
      <vt:lpstr>Logistic regression</vt:lpstr>
      <vt:lpstr>The Logistic Regression Model</vt:lpstr>
      <vt:lpstr>PowerPoint 簡報</vt:lpstr>
      <vt:lpstr>PowerPoint 簡報</vt:lpstr>
      <vt:lpstr>PowerPoint 簡報</vt:lpstr>
      <vt:lpstr>PowerPoint 簡報</vt:lpstr>
      <vt:lpstr>Multi-class Logistic Regression</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twp</dc:creator>
  <cp:lastModifiedBy>twp</cp:lastModifiedBy>
  <cp:revision>746</cp:revision>
  <dcterms:created xsi:type="dcterms:W3CDTF">2017-09-21T05:22:33Z</dcterms:created>
  <dcterms:modified xsi:type="dcterms:W3CDTF">2025-04-11T07:09:55Z</dcterms:modified>
</cp:coreProperties>
</file>